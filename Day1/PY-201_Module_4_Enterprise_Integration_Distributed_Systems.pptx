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PY-201: Enterprise Integration &amp; Distributed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74320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D2DEEE"/>
                </a:solidFill>
              </a:defRPr>
            </a:pPr>
            <a:r>
              <a:t>REST / gRPC • Messaging • Kafka • Distributed Transactions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Module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Understand how enterprise services communicate across system boundaries.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Choose REST, gRPC or messaging based on business and technical requirements.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Understand Kafka topics, partitions, consumer groups and delivery semantics.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Design event-driven workflows with idempotent consumers.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Apply Saga, Transactional Outbox and compensation patterns for distributed transactions.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 REST vs gRPC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REST is HTTP-based and easy to integrate with browsers, external partners and heterogeneous systems.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gRPC uses Protocol Buffers and HTTP/2 for strongly typed service-to-service communication.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REST commonly exposes resources/actions as HTTP endpoints; gRPC exposes typed service methods.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Trade-off: REST is broadly accessible; gRPC provides strong contracts and efficient internal communication.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Both still need timeouts, retries, authentication, observability and error handling.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REST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84831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API Gateway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85031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49624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Order REST API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49824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14416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Payment REST API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14616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79208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JSON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REST Python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480060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35607"/>
            <a:ext cx="10881360" cy="4599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>
                <a:solidFill>
                  <a:srgbClr val="FFFFFF"/>
                </a:solidFill>
                <a:latin typeface="Consolas"/>
              </a:defRPr>
            </a:pPr>
            <a:r>
              <a:t>import httpx</a:t>
            </a:r>
            <a:br/>
            <a:br/>
            <a:r>
              <a:t>async def get_customer(</a:t>
            </a:r>
            <a:br/>
            <a:r>
              <a:t>    client: httpx.AsyncClient,</a:t>
            </a:r>
            <a:br/>
            <a:r>
              <a:t>    customer_id: int,</a:t>
            </a:r>
            <a:br/>
            <a:r>
              <a:t>) -&gt; dict[str, object]:</a:t>
            </a:r>
            <a:br/>
            <a:r>
              <a:t>    response = await client.get(</a:t>
            </a:r>
            <a:br/>
            <a:r>
              <a:t>        f"http://customer-service/customers/{customer_id}",</a:t>
            </a:r>
            <a:br/>
            <a:r>
              <a:t>        timeout=2.0,</a:t>
            </a:r>
            <a:br/>
            <a:r>
              <a:t>    )</a:t>
            </a:r>
            <a:br/>
            <a:r>
              <a:t>    response.raise_for_status()</a:t>
            </a:r>
            <a:br/>
            <a:r>
              <a:t>    return response.json()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gRPC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Python 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84831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gRPC Stub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85031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49624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HTTP/2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49824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14416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Payment Service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14616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79208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Typed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gRPC Python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Define a .proto contract.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Generate Python client/server classes.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Client calls a typed RPC method.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Server validates and returns a typed response.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Use deadlines/timeouts and status codes for failure handling.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Real-Time Example — Payment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E-commerce Order Service needs payment authorization.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REST is convenient for external partners and heterogeneous consumers.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gRPC can suit internal calls where typed contracts and efficient serialization matter.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For either option, make authorization idempotent and traceable.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2. Messaging &amp; Event-Driven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Messaging decouples producers from consumers.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A producer publishes an event such as OrderCreated; consumers react independently.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The producer does not need to know every consumer.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Events are facts that happened; commands ask another component to perform an action.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Trade-off: messaging improves decoupling but introduces eventual consistency, duplicate delivery and ordering concerns.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Synchronous vs Event-Driven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Synchronous: request → response → caller waits.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Event-driven: producer → broker → consumers; producer can continue.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Use synchronous calls when the caller needs an immediate result.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Use events for notifications, integrations, long-running workflows and independent reactions.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Event-Driven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Order Service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84831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OrderCreated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85031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49624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Message Broker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49824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14416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Payment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14616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79208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Inventory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79408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Notification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Python Event Producer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480060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35607"/>
            <a:ext cx="10881360" cy="4599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>
                <a:solidFill>
                  <a:srgbClr val="FFFFFF"/>
                </a:solidFill>
                <a:latin typeface="Consolas"/>
              </a:defRPr>
            </a:pPr>
            <a:r>
              <a:t>from dataclasses import dataclass</a:t>
            </a:r>
            <a:br/>
            <a:r>
              <a:t>import json</a:t>
            </a:r>
            <a:br/>
            <a:br/>
            <a:r>
              <a:t>@dataclass(frozen=True, slots=True)</a:t>
            </a:r>
            <a:br/>
            <a:r>
              <a:t>class OrderCreated:</a:t>
            </a:r>
            <a:br/>
            <a:r>
              <a:t>    order_id: str</a:t>
            </a:r>
            <a:br/>
            <a:r>
              <a:t>    customer_id: int</a:t>
            </a:r>
            <a:br/>
            <a:r>
              <a:t>    amount: float</a:t>
            </a:r>
            <a:br/>
            <a:br/>
            <a:r>
              <a:t>def serialize(event: OrderCreated) -&gt; bytes:</a:t>
            </a:r>
            <a:br/>
            <a:r>
              <a:t>    return json.dumps({</a:t>
            </a:r>
            <a:br/>
            <a:r>
              <a:t>        "event_type": "OrderCreated",</a:t>
            </a:r>
            <a:br/>
            <a:r>
              <a:t>        "order_id": event.order_id,</a:t>
            </a:r>
            <a:br/>
            <a:r>
              <a:t>        "customer_id": event.customer_id,</a:t>
            </a:r>
            <a:br/>
            <a:r>
              <a:t>        "amount": event.amount,</a:t>
            </a:r>
            <a:br/>
            <a:r>
              <a:t>    }).encode("utf-8")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Real-Time Example — Order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Order Service stores an order and publishes OrderCreated.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Payment consumes the event and attempts authorization.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Inventory consumes the same event and reserves stock.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Notification consumes the event and sends an email/SMS.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Consumers can evolve independently, but each must handle duplicates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3. Kafka-Based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Kafka is a distributed event-streaming platform designed for high-throughput durable streams.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Topic: logical stream of records.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Partition: ordered append-only sequence inside a topic.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Consumer group: multiple consumers sharing partitions for parallel processing.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Offset: consumer position used to track progress.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Kafka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Producer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84831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Topic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85031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49624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Partition 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49824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14416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Partition 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14616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79208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Partition 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79408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Consumer Group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Kafka Delivery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At-most-once: message may be lost, but is not normally reprocessed.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At-least-once: message can be delivered again; consumers must be idempotent.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Exactly-once semantics are possible in specific Kafka processing designs, but end-to-end business exactly-once is a broader problem.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Ordering is guaranteed within a partition, not globally across a topic.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Python Kafka Producer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480060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35607"/>
            <a:ext cx="10881360" cy="4599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>
                <a:solidFill>
                  <a:srgbClr val="FFFFFF"/>
                </a:solidFill>
                <a:latin typeface="Consolas"/>
              </a:defRPr>
            </a:pPr>
            <a:r>
              <a:t>from confluent_kafka import Producer</a:t>
            </a:r>
            <a:br/>
            <a:r>
              <a:t>import json</a:t>
            </a:r>
            <a:br/>
            <a:br/>
            <a:r>
              <a:t>producer = Producer({</a:t>
            </a:r>
            <a:br/>
            <a:r>
              <a:t>    "bootstrap.servers": "localhost:9092"</a:t>
            </a:r>
            <a:br/>
            <a:r>
              <a:t>})</a:t>
            </a:r>
            <a:br/>
            <a:br/>
            <a:r>
              <a:t>event = {</a:t>
            </a:r>
            <a:br/>
            <a:r>
              <a:t>    "event_type": "OrderCreated",</a:t>
            </a:r>
            <a:br/>
            <a:r>
              <a:t>    "order_id": "ORD-1001",</a:t>
            </a:r>
            <a:br/>
            <a:r>
              <a:t>    "amount": 250.0,</a:t>
            </a:r>
            <a:br/>
            <a:r>
              <a:t>}</a:t>
            </a:r>
            <a:br/>
            <a:br/>
            <a:r>
              <a:t>producer.produce(</a:t>
            </a:r>
            <a:br/>
            <a:r>
              <a:t>    "orders",</a:t>
            </a:r>
            <a:br/>
            <a:r>
              <a:t>    key="ORD-1001",</a:t>
            </a:r>
            <a:br/>
            <a:r>
              <a:t>    value=json.dumps(event).encode("utf-8"),</a:t>
            </a:r>
            <a:br/>
            <a:r>
              <a:t>)</a:t>
            </a:r>
            <a:br/>
            <a:r>
              <a:t>producer.flush()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Python Kafka Consumer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480060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35607"/>
            <a:ext cx="10881360" cy="4599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>
                <a:solidFill>
                  <a:srgbClr val="FFFFFF"/>
                </a:solidFill>
                <a:latin typeface="Consolas"/>
              </a:defRPr>
            </a:pPr>
            <a:r>
              <a:t>from confluent_kafka import Consumer</a:t>
            </a:r>
            <a:br/>
            <a:r>
              <a:t>import json</a:t>
            </a:r>
            <a:br/>
            <a:br/>
            <a:r>
              <a:t>consumer = Consumer({</a:t>
            </a:r>
            <a:br/>
            <a:r>
              <a:t>    "bootstrap.servers": "localhost:9092",</a:t>
            </a:r>
            <a:br/>
            <a:r>
              <a:t>    "group.id": "payment-service",</a:t>
            </a:r>
            <a:br/>
            <a:r>
              <a:t>    "auto.offset.reset": "earliest",</a:t>
            </a:r>
            <a:br/>
            <a:r>
              <a:t>})</a:t>
            </a:r>
            <a:br/>
            <a:br/>
            <a:r>
              <a:t>consumer.subscribe(["orders"])</a:t>
            </a:r>
            <a:br/>
            <a:br/>
            <a:r>
              <a:t>try:</a:t>
            </a:r>
            <a:br/>
            <a:r>
              <a:t>    while True:</a:t>
            </a:r>
            <a:br/>
            <a:r>
              <a:t>        msg = consumer.poll(1.0)</a:t>
            </a:r>
            <a:br/>
            <a:r>
              <a:t>        if msg is None:</a:t>
            </a:r>
            <a:br/>
            <a:r>
              <a:t>            continue</a:t>
            </a:r>
            <a:br/>
            <a:r>
              <a:t>        if msg.error():</a:t>
            </a:r>
            <a:br/>
            <a:r>
              <a:t>            raise RuntimeError(msg.error())</a:t>
            </a:r>
            <a:br/>
            <a:br/>
            <a:r>
              <a:t>        event = json.loads(msg.value())</a:t>
            </a:r>
            <a:br/>
            <a:r>
              <a:t>        print("processing", event["order_id"])</a:t>
            </a:r>
            <a:br/>
            <a:r>
              <a:t>finally:</a:t>
            </a:r>
            <a:br/>
            <a:r>
              <a:t>    consumer.close()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Kafka Hands-On — Order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Create an orders topic with multiple partitions.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Publish OrderCreated events with order_id as the key.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Run two payment consumers in the same group.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Observe partition assignment and consumer scaling.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Stop one consumer and observe reassignment.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Verify the same order can be redelivered and processed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4. Distributed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A database transaction protects one transactional resource; microservices usually span multiple databases/services.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A distributed workflow cannot rely on one local database commit to atomically update everything.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Network failures can happen between steps.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Common patterns: Saga, Transactional Outbox, compensation and idempotency.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Goal: predictable business consistency—not pretending the distributed system is one local transaction.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Why 2-Phase Commit Is Difficult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Coordinator asks participants to prepare.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Participants hold state/resources while waiting.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Coordinator commits or rolls back.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This can create blocking, operational complexity and tight coupling.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Many microservice systems prefer Saga + Outbox patterns for business workflows.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Saga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Saga splits a business transaction into local transactions.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If a later step fails, a compensating action reverses the business effect of earlier steps.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Example: reserve inventory → authorize payment → create shipment.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If payment fails after inventory reservation, publish ReleaseInventory compensation.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Saga can be choreography-based or orchestration-based.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Saga Workflow — E-Commerce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Create Order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84831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Reserve Inventory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85031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49624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Authorize Payment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49824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14416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Create Shipment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14616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79208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Completed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Saga Failure / Compensation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Create Order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84831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Reserve Inventory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85031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49624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Payment Fails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49824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14416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Release Inventory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14616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79208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Cancel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Transactional Outbox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Problem: database commit succeeds but event publish fails.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Outbox solution: write business data and an outbox event in the same local database transaction.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A publisher reads pending outbox rows and publishes them to Kafka.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After successful publication, mark the outbox record as published.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Consumers still need idempotency because publishing can be retried.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Outbox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Service Transaction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84831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DB: Order + Outbox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85031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49624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Outbox Publisher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49824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14416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Kafka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14616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79208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Consumers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Outbox Python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480060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35607"/>
            <a:ext cx="10881360" cy="4599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>
                <a:solidFill>
                  <a:srgbClr val="FFFFFF"/>
                </a:solidFill>
                <a:latin typeface="Consolas"/>
              </a:defRPr>
            </a:pPr>
            <a:r>
              <a:t>from dataclasses import dataclass</a:t>
            </a:r>
            <a:br/>
            <a:r>
              <a:t>from datetime import datetime</a:t>
            </a:r>
            <a:br/>
            <a:br/>
            <a:r>
              <a:t>@dataclass(frozen=True, slots=True)</a:t>
            </a:r>
            <a:br/>
            <a:r>
              <a:t>class OutboxEvent:</a:t>
            </a:r>
            <a:br/>
            <a:r>
              <a:t>    event_id: str</a:t>
            </a:r>
            <a:br/>
            <a:r>
              <a:t>    event_type: str</a:t>
            </a:r>
            <a:br/>
            <a:r>
              <a:t>    aggregate_id: str</a:t>
            </a:r>
            <a:br/>
            <a:r>
              <a:t>    payload: bytes</a:t>
            </a:r>
            <a:br/>
            <a:r>
              <a:t>    created_at: datetime</a:t>
            </a:r>
            <a:br/>
            <a:br/>
            <a:r>
              <a:t># Production flow:</a:t>
            </a:r>
            <a:br/>
            <a:r>
              <a:t># 1. Insert business row + outbox row in one DB transaction.</a:t>
            </a:r>
            <a:br/>
            <a:r>
              <a:t># 2. Commit.</a:t>
            </a:r>
            <a:br/>
            <a:r>
              <a:t># 3. Publisher sends pending rows to Kafka.</a:t>
            </a:r>
            <a:br/>
            <a:r>
              <a:t># 4. Mark published after broker acknowledgement.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Idempotent Consumer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Assume an event may arrive twice.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Store a unique event_id or business operation key before applying the side effect.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If the key was already processed, acknowledge/skip the duplicate.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Make external side effects idempotent where possible.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This is one of the most important rules in event-driven enterprise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End-to-End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API Gateway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84831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Order Service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85031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49624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Order DB + Outbox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49824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14416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Kafka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14616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79208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Payment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79408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Inventory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744200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908792" y="256032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640"/>
                </a:solidFill>
              </a:defRPr>
            </a:pPr>
            <a:r>
              <a:t>Notification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Hands-On Capstone — Order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Build Order, Payment and Inventory services.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Use REST or gRPC for immediate validation/authorization.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Use Kafka for OrderCreated and payment/inventory events.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Use Transactional Outbox for reliable event publication.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Use Saga for compensation when a later step fails.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Add idempotent consumers and correlation IDs.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Test duplicate events, consumer restart and dependency failure.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Production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Define versioned API and event contracts.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Use timeouts on synchronous calls.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Choose Kafka partition keys carefully.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Monitor consumer lag and failed/dead-letter messages.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Make consumers idempotent.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Use retries with backoff and dead-letter handling.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Use Outbox for database + event reliability.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Document eventual-consistency behavior and recovery procedures.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Module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4: Enterprise Integration &amp; Distributed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REST = broadly compatible request/response integration.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gRPC = strongly typed efficient internal RPC.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Messaging = asynchronous decoupling and independent consumers.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Kafka = durable distributed event streaming with partitions and consumer groups.</a:t>
            </a:r>
          </a:p>
          <a:p>
            <a:pPr>
              <a:spcAft>
                <a:spcPts val="900"/>
              </a:spcAft>
              <a:defRPr sz="1500">
                <a:solidFill>
                  <a:srgbClr val="1E242C"/>
                </a:solidFill>
              </a:defRPr>
            </a:pPr>
            <a:r>
              <a:t>Saga + Outbox + idempotency = practical building blocks for distributed business workflows.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Enterprise Integration &amp; Distributed Systems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Module 4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8892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2DEEE"/>
                </a:solidFill>
              </a:defRPr>
            </a:pPr>
            <a:r>
              <a:t>Distributed systems succeed through explicit contracts, durable messaging, controlled consistency and deliberate failure handling.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