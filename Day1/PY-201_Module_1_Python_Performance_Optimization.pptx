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PY-201: Python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0DDED"/>
                </a:solidFill>
              </a:defRPr>
            </a:pPr>
            <a:r>
              <a:t>Module 1 • Production-grade optimization for senior Python engineers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069080"/>
            <a:ext cx="2834640" cy="502920"/>
          </a:xfrm>
          <a:prstGeom prst="roundRect">
            <a:avLst/>
          </a:prstGeom>
          <a:solidFill>
            <a:srgbClr val="1F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ADVANCED • 3-DAY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Optimize Python services scientifically—without trading away correctness or operability.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Build a repeatable performance-engineering workflow: baseline → profile → diagnose → optimize → verify.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Understand CPython execution, allocation, object overhead, GIL behavior, async I/O, multiprocessing, and contention.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Choose optimization boundaries at function, process, service, database, and architecture levels.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Use production tools: cProfile, timeit, tracemalloc, py-spy concepts, asyncio instrumentation, and load testing.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Apply performance patterns to enterprise microservices: bounded concurrency, pooling, batching, caching, and backpressure.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Performance Engineering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Optimization is an evidence-driven engineering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Define SLO / workload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84248" y="29260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4884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Baseline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0168" y="29260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9476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Profile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76088" y="29260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4068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Identify bottleneck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2008" y="29260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8660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Change one variable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67928" y="29260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3252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Load 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13848" y="29260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378440" y="2468880"/>
            <a:ext cx="1481328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Compare &amp;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Key metrics: p50/p95/p99 latency, throughput, CPU, RSS, allocation rate, error rate, queue depth.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Rule: optimize the measured bottleneck, not the code that merely looks slow.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Performance regression is a release-quality concern; keep representative benchmarks in CI.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1.1 Profiling &amp;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Theory &amp; Architecture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Latency is the sum of CPU, I/O, queueing, lock contention, serialization and downstream waits.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Micro-optimizations are often irrelevant when a database query, network call or algorithm dominates.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Sampling profilers show where wall-clock time accumulates; deterministic profilers show call-level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Production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Profiling overhead can distort short-lived workloads; benchmark in a production-like environment.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CPU profiles identify hot paths; memory profiles identify allocation/retention; traces explain distributed latency.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Use statistical confidence: repeated runs, warm-up, representative payloads and percentile-based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1.1 Profiling &amp;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Code Syntax &amp;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448056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0643616" cy="42611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import cProfile</a:t>
            </a:r>
            <a:br/>
            <a:r>
              <a:t>import pstats</a:t>
            </a:r>
            <a:br/>
            <a:r>
              <a:t>from collections.abc import Callable</a:t>
            </a:r>
            <a:br/>
            <a:r>
              <a:t>from typing import Any</a:t>
            </a:r>
            <a:br/>
            <a:br/>
            <a:r>
              <a:t>def profile_call(fn: Callable[..., Any], *args: Any, **kwargs: Any) -&gt; Any:</a:t>
            </a:r>
            <a:br/>
            <a:r>
              <a:t>    profiler = cProfile.Profile()</a:t>
            </a:r>
            <a:br/>
            <a:r>
              <a:t>    profiler.enable()</a:t>
            </a:r>
            <a:br/>
            <a:r>
              <a:t>    try:</a:t>
            </a:r>
            <a:br/>
            <a:r>
              <a:t>        return fn(*args, **kwargs)</a:t>
            </a:r>
            <a:br/>
            <a:r>
              <a:t>    finally:</a:t>
            </a:r>
            <a:br/>
            <a:r>
              <a:t>        profiler.disable()</a:t>
            </a:r>
            <a:br/>
            <a:r>
              <a:t>        pstats.Stats(profiler).sort_stats("cumulative").print_stats(20)</a:t>
            </a:r>
            <a:br/>
            <a:br/>
            <a:r>
              <a:t># Benchmarkable function</a:t>
            </a:r>
            <a:br/>
            <a:r>
              <a:t>def transform(values: list[int]) -&gt; int:</a:t>
            </a:r>
            <a:br/>
            <a:r>
              <a:t>    return sum(v * v for v in values)</a:t>
            </a:r>
            <a:br/>
            <a:br/>
            <a:r>
              <a:t>if __name__ == "__main__":</a:t>
            </a:r>
            <a:br/>
            <a:r>
              <a:t>    print(profile_call(transform, list(range(1_000_000))))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1675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1E242C"/>
                </a:solidFill>
              </a:defRPr>
            </a:pPr>
            <a:r>
              <a:t>Use cProfile for deterministic call attribution; use timeit for small isolated expressions.</a:t>
            </a:r>
          </a:p>
          <a:p>
            <a:pPr>
              <a:spcAft>
                <a:spcPts val="900"/>
              </a:spcAft>
              <a:defRPr sz="1100" b="0">
                <a:solidFill>
                  <a:srgbClr val="1E242C"/>
                </a:solidFill>
              </a:defRPr>
            </a:pPr>
            <a:r>
              <a:t>For service-level CPU profiling, prefer a low-overhead sampling profiler in staging/production.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1.1 Hands-on: Order Pricing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Enterprise Example • 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Scenario: an order-pricing service applies discounts to 50k line items. The API has a 150 ms p95 target.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Lab goal: establish a baseline, profile the hot path, replace accidental O(n²) work, and verify the improvement.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Architecture: HTTP/API layer → pricing service → rules engine → response serializer.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416052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317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Pricing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4160520"/>
            <a:ext cx="182881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Rules Engine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9240" y="416052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321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Benchmark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416052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Profile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4160520"/>
            <a:ext cx="182879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325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Optimize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0" y="416052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32720" y="370332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Verify p95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1.1 Hands-on: Copy-Pasteable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Complete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489204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89888"/>
            <a:ext cx="10826496" cy="4672583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19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from dataclasses import dataclass</a:t>
            </a:r>
            <a:br/>
            <a:r>
              <a:t>from timeit import timeit</a:t>
            </a:r>
            <a:br/>
            <a:br/>
            <a:r>
              <a:t>@dataclass(frozen=True, slots=True)</a:t>
            </a:r>
            <a:br/>
            <a:r>
              <a:t>class Item:</a:t>
            </a:r>
            <a:br/>
            <a:r>
              <a:t>    sku: str</a:t>
            </a:r>
            <a:br/>
            <a:r>
              <a:t>    price: float</a:t>
            </a:r>
            <a:br/>
            <a:br/>
            <a:r>
              <a:t>def price_naive(items: list[Item], eligible: list[str]) -&gt; float:</a:t>
            </a:r>
            <a:br/>
            <a:r>
              <a:t>    total = 0.0</a:t>
            </a:r>
            <a:br/>
            <a:r>
              <a:t>    for item in items:</a:t>
            </a:r>
            <a:br/>
            <a:r>
              <a:t>        if item.sku in eligible:  # O(n) membership</a:t>
            </a:r>
            <a:br/>
            <a:r>
              <a:t>            total += item.price * 0.90</a:t>
            </a:r>
            <a:br/>
            <a:r>
              <a:t>        else:</a:t>
            </a:r>
            <a:br/>
            <a:r>
              <a:t>            total += item.price</a:t>
            </a:r>
            <a:br/>
            <a:r>
              <a:t>    return total</a:t>
            </a:r>
            <a:br/>
            <a:br/>
            <a:r>
              <a:t>def price_optimized(items: list[Item], eligible: list[str]) -&gt; float:</a:t>
            </a:r>
            <a:br/>
            <a:r>
              <a:t>    eligible_set = set(eligible)  # O(1) average membership</a:t>
            </a:r>
            <a:br/>
            <a:r>
              <a:t>    return sum(</a:t>
            </a:r>
            <a:br/>
            <a:r>
              <a:t>        item.price * (0.90 if item.sku in eligible_set else 1.0)</a:t>
            </a:r>
            <a:br/>
            <a:r>
              <a:t>        for item in items</a:t>
            </a:r>
            <a:br/>
            <a:r>
              <a:t>    )</a:t>
            </a:r>
            <a:br/>
            <a:br/>
            <a:r>
              <a:t>items = [Item(f"SKU-{i % 10_000}", 10.0 + i % 100) for i in range(50_000)]</a:t>
            </a:r>
            <a:br/>
            <a:r>
              <a:t>eligible = [f"SKU-{i}" for i in range(5_000)]</a:t>
            </a:r>
            <a:br/>
            <a:br/>
            <a:r>
              <a:t>t1 = timeit(lambda: price_naive(items, eligible), number=3)</a:t>
            </a:r>
            <a:br/>
            <a:r>
              <a:t>t2 = timeit(lambda: price_optimized(items, eligible), number=3)</a:t>
            </a:r>
            <a:br/>
            <a:r>
              <a:t>print(f"naive={t1:.4f}s optimized={t2:.4f}s speedup={t1/t2:.2f}x")</a:t>
            </a:r>
            <a:br/>
            <a:r>
              <a:t>assert price_naive(items, eligible) == price_optimized(items, eligible)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1.1 Hands-on: Implementation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1. Save as benchmark_pricing.py and run with Python 3.11+.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2. Run once for correctness, then repeat the timing several times; capture median rather than a single run.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3. Change the workload size and eligibility ratio. Confirm the speedup grows as the membership list grows.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4. Run cProfile against each implementation and inspect cumulative time.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5. Production extension: expose the pricing function behind an API endpoint and benchmark p50/p95/p99 under concurrent load.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Verification: correctness assertion passes; optimized version materially reduces lookup time without changing business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1.2 Memory &amp; Data-Structure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Theory &amp; Architecture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CPython memory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Variables reference Python objects; objects carry type/reference-count metadata and often allocator overhead.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Lists store references; tuples are compact immutable sequences; sets/dicts trade memory for fast hashing.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Generator expressions and iterators avoid materializing large intermediate collections.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__slots__ can reduce per-instance dictionary overhead for high-volume domain objects.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Design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Memory reduction can increase CPU work or reduce readability—measure end-to-end.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Sets/dicts provide average O(1) lookup but consume substantially more memory than compact arrays.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Object pooling/caching can reduce allocations but risks retention and stale-state bugs.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Batching lowers overhead but increases peak memory; use bounded batch sizes.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1.2 Memory &amp; Data-Structure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Code Syntax &amp;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45720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81328"/>
            <a:ext cx="10826496" cy="43525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from dataclasses import dataclass</a:t>
            </a:r>
            <a:br/>
            <a:r>
              <a:t>from typing import Iterator</a:t>
            </a:r>
            <a:br/>
            <a:br/>
            <a:r>
              <a:t>@dataclass(slots=True, frozen=True)</a:t>
            </a:r>
            <a:br/>
            <a:r>
              <a:t>class Transaction:</a:t>
            </a:r>
            <a:br/>
            <a:r>
              <a:t>    account_id: str</a:t>
            </a:r>
            <a:br/>
            <a:r>
              <a:t>    amount: int</a:t>
            </a:r>
            <a:br/>
            <a:r>
              <a:t>    currency: str</a:t>
            </a:r>
            <a:br/>
            <a:br/>
            <a:r>
              <a:t>def stream_transactions(rows: list[tuple[str, int, str]]) -&gt; Iterator[Transaction]:</a:t>
            </a:r>
            <a:br/>
            <a:r>
              <a:t>    for account_id, amount, currency in rows:</a:t>
            </a:r>
            <a:br/>
            <a:r>
              <a:t>        yield Transaction(account_id, amount, currency)</a:t>
            </a:r>
            <a:br/>
            <a:br/>
            <a:r>
              <a:t>def chunked[T](items: list[T], size: int) -&gt; Iterator[list[T]]:</a:t>
            </a:r>
            <a:br/>
            <a:r>
              <a:t>    if size &lt;= 0:</a:t>
            </a:r>
            <a:br/>
            <a:r>
              <a:t>        raise ValueError("size must be positive")</a:t>
            </a:r>
            <a:br/>
            <a:r>
              <a:t>    for start in range(0, len(items), size):</a:t>
            </a:r>
            <a:br/>
            <a:r>
              <a:t>        yield items[start:start + size]</a:t>
            </a:r>
            <a:br/>
            <a:br/>
            <a:r>
              <a:t># Prefer streaming/bounded batches for large datasets:</a:t>
            </a:r>
            <a:br/>
            <a:r>
              <a:t>for batch in chunked(rows := [("A", 100, "USD")] * 100_000, 1_000):</a:t>
            </a:r>
            <a:br/>
            <a:r>
              <a:t>    process(batch)  # defined by the application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1.2 Hands-on: Fintech Transaction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Enterprise Example • Memory-safe batch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Scenario: a settlement service processes millions of transactions from a file/object-store stream.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Failure mode: reading the entire file and constructing nested dicts causes high RSS and GC pressure.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Target architecture: source iterator → bounded batch → validation → aggregation → durable sink.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Optimization objective: keep peak memory approximately bounded by batch size rather than input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Input Stream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4206240"/>
            <a:ext cx="32004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3749039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Iterator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4206240"/>
            <a:ext cx="32004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3749039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1,000-row Batch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4206240"/>
            <a:ext cx="32004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92240" y="3749039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92440" y="4206240"/>
            <a:ext cx="32004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3749039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Aggregate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12680" y="4206240"/>
            <a:ext cx="32004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32720" y="3749039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Persist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1.2 Hands-on: Complete Batch Processor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11338560" cy="49834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44168"/>
            <a:ext cx="11009376" cy="47640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from collections import defaultdict</a:t>
            </a:r>
            <a:br/>
            <a:r>
              <a:t>from dataclasses import dataclass</a:t>
            </a:r>
            <a:br/>
            <a:r>
              <a:t>from typing import Iterable, Iterator</a:t>
            </a:r>
            <a:br/>
            <a:br/>
            <a:r>
              <a:t>@dataclass(frozen=True, slots=True)</a:t>
            </a:r>
            <a:br/>
            <a:r>
              <a:t>class Tx:</a:t>
            </a:r>
            <a:br/>
            <a:r>
              <a:t>    account: str</a:t>
            </a:r>
            <a:br/>
            <a:r>
              <a:t>    amount_cents: int</a:t>
            </a:r>
            <a:br/>
            <a:r>
              <a:t>    currency: str</a:t>
            </a:r>
            <a:br/>
            <a:br/>
            <a:r>
              <a:t>def batches(items: Iterable[Tx], size: int) -&gt; Iterator[list[Tx]]:</a:t>
            </a:r>
            <a:br/>
            <a:r>
              <a:t>    batch: list[Tx] = []</a:t>
            </a:r>
            <a:br/>
            <a:r>
              <a:t>    for item in items:</a:t>
            </a:r>
            <a:br/>
            <a:r>
              <a:t>        batch.append(item)</a:t>
            </a:r>
            <a:br/>
            <a:r>
              <a:t>        if len(batch) == size:</a:t>
            </a:r>
            <a:br/>
            <a:r>
              <a:t>            yield batch</a:t>
            </a:r>
            <a:br/>
            <a:r>
              <a:t>            batch = []</a:t>
            </a:r>
            <a:br/>
            <a:r>
              <a:t>    if batch:</a:t>
            </a:r>
            <a:br/>
            <a:r>
              <a:t>        yield batch</a:t>
            </a:r>
            <a:br/>
            <a:br/>
            <a:r>
              <a:t>def aggregate(rows: Iterable[Tx]) -&gt; dict[str, int]:</a:t>
            </a:r>
            <a:br/>
            <a:r>
              <a:t>    totals: dict[str, int] = defaultdict(int)</a:t>
            </a:r>
            <a:br/>
            <a:r>
              <a:t>    for row in rows:</a:t>
            </a:r>
            <a:br/>
            <a:r>
              <a:t>        if row.amount_cents &lt; 0:</a:t>
            </a:r>
            <a:br/>
            <a:r>
              <a:t>            raise ValueError(f"negative amount: {row}")</a:t>
            </a:r>
            <a:br/>
            <a:r>
              <a:t>        totals[row.account] += row.amount_cents</a:t>
            </a:r>
            <a:br/>
            <a:r>
              <a:t>    return dict(totals)</a:t>
            </a:r>
            <a:br/>
            <a:br/>
            <a:r>
              <a:t>def process(source: Iterable[Tx], batch_size: int = 1_000) -&gt; dict[str, int]:</a:t>
            </a:r>
            <a:br/>
            <a:r>
              <a:t>    final: dict[str, int] = defaultdict(int)</a:t>
            </a:r>
            <a:br/>
            <a:r>
              <a:t>    for batch in batches(source, batch_size):</a:t>
            </a:r>
            <a:br/>
            <a:r>
              <a:t>        for account, amount in aggregate(batch).items():</a:t>
            </a:r>
            <a:br/>
            <a:r>
              <a:t>            final[account] += amount</a:t>
            </a:r>
            <a:br/>
            <a:r>
              <a:t>    return dict(final)</a:t>
            </a:r>
            <a:br/>
            <a:br/>
            <a:r>
              <a:t>rows = (Tx(f"A{i % 10_000}", 100 + i % 50, "USD") for i in range(2_000_000))</a:t>
            </a:r>
            <a:br/>
            <a:r>
              <a:t>result = process(rows)</a:t>
            </a:r>
            <a:br/>
            <a:r>
              <a:t>print(len(result), result.get("A42", 0))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1.2 Hands-on: Verification &amp; Memory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38862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10643616" cy="3666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import tracemalloc</a:t>
            </a:r>
            <a:br/>
            <a:br/>
            <a:r>
              <a:t>tracemalloc.start()</a:t>
            </a:r>
            <a:br/>
            <a:br/>
            <a:r>
              <a:t>result = process(rows, batch_size=1_000)</a:t>
            </a:r>
            <a:br/>
            <a:br/>
            <a:r>
              <a:t>current, peak = tracemalloc.get_traced_memory()</a:t>
            </a:r>
            <a:br/>
            <a:r>
              <a:t>print(f"current={current/1024/1024:.2f} MiB")</a:t>
            </a:r>
            <a:br/>
            <a:r>
              <a:t>print(f"peak={peak/1024/1024:.2f} MiB")</a:t>
            </a:r>
            <a:br/>
            <a:br/>
            <a:r>
              <a:t>snapshot = tracemalloc.take_snapshot()</a:t>
            </a:r>
            <a:br/>
            <a:r>
              <a:t>for stat in snapshot.statistics("lineno")[:10]:</a:t>
            </a:r>
            <a:br/>
            <a:r>
              <a:t>    print(stat)</a:t>
            </a:r>
            <a:br/>
            <a:br/>
            <a:r>
              <a:t>tracemalloc.stop()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1E242C"/>
                </a:solidFill>
              </a:defRPr>
            </a:pPr>
            <a:r>
              <a:t>Experiment with batch sizes 100, 1,000 and 10,000. Compare throughput and peak memory.</a:t>
            </a:r>
          </a:p>
          <a:p>
            <a:pPr>
              <a:spcAft>
                <a:spcPts val="900"/>
              </a:spcAft>
              <a:defRPr sz="1300" b="0">
                <a:solidFill>
                  <a:srgbClr val="1E242C"/>
                </a:solidFill>
              </a:defRPr>
            </a:pPr>
            <a:r>
              <a:t>Verification: results are identical; peak memory remains bounded; choose the batch size using measured throughput/latency and infrastructure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1.3 Concurrency: Threads, Processes &amp; AsyncIO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Theory &amp; Architecture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Workload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CPU-bound: encryption, image processing, large numerical loops → processes or native/vectorized libraries.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I/O-bound: HTTP, database, filesystem, queues → async I/O or threads when the client is blocking.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CPython's GIL prevents multiple Python bytecode threads from executing simultaneously in one interpreter.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AsyncIO uses cooperative scheduling; concurrency improves when tasks spend time awaiting I/O.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Enterprise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Processes improve CPU parallelism but add serialization, memory and IPC overhead.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Threads are easy for blocking libraries but require careful shared-state synchronization.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Async systems need async-compatible drivers; wrapping blocking calls incorrectly can stall the event loop.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Bound concurrency. Unlimited fan-out can overload databases, APIs and connection pools.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1.3 Concurrency Decision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Is workload CPU-bound?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880360"/>
            <a:ext cx="24688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41448" y="242316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Yes → Process pool / native code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41648" y="2880360"/>
            <a:ext cx="24688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88536" y="242316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No → I/O-bound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8736" y="2880360"/>
            <a:ext cx="24688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5624" y="242316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Async client available?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35824" y="2880360"/>
            <a:ext cx="24688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82712" y="242316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Yes → asyncio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82912" y="2880360"/>
            <a:ext cx="24688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29800" y="242316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No → threads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The correct concurrency model follows the bottleneck and library behavior—not developer preference.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Measure service saturation: CPU utilization, event-loop lag, pool utilization, queue depth and downstream latency.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1.3 AsyncIO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Code Syntax &amp;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35607"/>
            <a:ext cx="10872216" cy="45811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import asyncio</a:t>
            </a:r>
            <a:br/>
            <a:r>
              <a:t>from collections.abc import Awaitable, Callable</a:t>
            </a:r>
            <a:br/>
            <a:r>
              <a:t>from typing import TypeVar</a:t>
            </a:r>
            <a:br/>
            <a:br/>
            <a:r>
              <a:t>T = TypeVar("T")</a:t>
            </a:r>
            <a:br/>
            <a:br/>
            <a:r>
              <a:t>async def bounded_gather(</a:t>
            </a:r>
            <a:br/>
            <a:r>
              <a:t>    items: list[T],</a:t>
            </a:r>
            <a:br/>
            <a:r>
              <a:t>    worker: Callable[[T], Awaitable[str]],</a:t>
            </a:r>
            <a:br/>
            <a:r>
              <a:t>    limit: int = 20,</a:t>
            </a:r>
            <a:br/>
            <a:r>
              <a:t>) -&gt; list[str]:</a:t>
            </a:r>
            <a:br/>
            <a:r>
              <a:t>    if limit &lt;= 0:</a:t>
            </a:r>
            <a:br/>
            <a:r>
              <a:t>        raise ValueError("limit must be positive")</a:t>
            </a:r>
            <a:br/>
            <a:r>
              <a:t>    semaphore = asyncio.Semaphore(limit)</a:t>
            </a:r>
            <a:br/>
            <a:br/>
            <a:r>
              <a:t>    async def run(item: T) -&gt; str:</a:t>
            </a:r>
            <a:br/>
            <a:r>
              <a:t>        async with semaphore:</a:t>
            </a:r>
            <a:br/>
            <a:r>
              <a:t>            return await worker(item)</a:t>
            </a:r>
            <a:br/>
            <a:br/>
            <a:r>
              <a:t>    return await asyncio.gather(*(run(item) for item in items))</a:t>
            </a:r>
            <a:br/>
            <a:br/>
            <a:r>
              <a:t>async def main() -&gt; None:</a:t>
            </a:r>
            <a:br/>
            <a:r>
              <a:t>    async def fake_io(item: int) -&gt; str:</a:t>
            </a:r>
            <a:br/>
            <a:r>
              <a:t>        await asyncio.sleep(0.05)</a:t>
            </a:r>
            <a:br/>
            <a:r>
              <a:t>        return f"done:{item}"</a:t>
            </a:r>
            <a:br/>
            <a:br/>
            <a:r>
              <a:t>    results = await bounded_gather(list(range(100)), fake_io, limit=10)</a:t>
            </a:r>
            <a:br/>
            <a:r>
              <a:t>    print(results[:3], len(results))</a:t>
            </a:r>
            <a:br/>
            <a:br/>
            <a:r>
              <a:t>if __name__ == "__main__":</a:t>
            </a:r>
            <a:br/>
            <a:r>
              <a:t>    asyncio.run(main())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1.3 Hands-on: Parallel Fraud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Enterprise Example • Fintech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Scenario: payment authorization performs independent checks: sanctions, velocity, device risk and account status.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Sequential execution creates avoidable latency because checks wait on independent downstream systems.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Use bounded asyncio concurrency so 4 checks run concurrently while respecting downstream capacity.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Production requirement: per-call timeout, cancellation propagation, explicit failure policy and correlation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Payment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4160520"/>
            <a:ext cx="11887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39112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Risk 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47872" y="4160520"/>
            <a:ext cx="11887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66744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Sanctions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75504" y="4160520"/>
            <a:ext cx="11887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94376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Velocity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03136" y="4160520"/>
            <a:ext cx="118871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22007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Device 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30767" y="4160520"/>
            <a:ext cx="118873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39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Account Status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399" y="4160520"/>
            <a:ext cx="118873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77272" y="3703320"/>
            <a:ext cx="150876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1.3 Hands-on: Complete Async Risk Orchestrator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01400" cy="493776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872216" cy="4718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import asyncio</a:t>
            </a:r>
            <a:br/>
            <a:r>
              <a:t>from dataclasses import dataclass</a:t>
            </a:r>
            <a:br/>
            <a:br/>
            <a:r>
              <a:t>@dataclass(frozen=True, slots=True)</a:t>
            </a:r>
            <a:br/>
            <a:r>
              <a:t>class RiskResult:</a:t>
            </a:r>
            <a:br/>
            <a:r>
              <a:t>    name: str</a:t>
            </a:r>
            <a:br/>
            <a:r>
              <a:t>    approved: bool</a:t>
            </a:r>
            <a:br/>
            <a:br/>
            <a:r>
              <a:t>async def check(name: str, delay: float, approved: bool) -&gt; RiskResult:</a:t>
            </a:r>
            <a:br/>
            <a:r>
              <a:t>    try:</a:t>
            </a:r>
            <a:br/>
            <a:r>
              <a:t>        await asyncio.wait_for(asyncio.sleep(delay), timeout=1.0)</a:t>
            </a:r>
            <a:br/>
            <a:r>
              <a:t>        return RiskResult(name, approved)</a:t>
            </a:r>
            <a:br/>
            <a:r>
              <a:t>    except TimeoutError as exc:</a:t>
            </a:r>
            <a:br/>
            <a:r>
              <a:t>        raise RuntimeError(f"{name} timed out") from exc</a:t>
            </a:r>
            <a:br/>
            <a:br/>
            <a:r>
              <a:t>async def authorize() -&gt; bool:</a:t>
            </a:r>
            <a:br/>
            <a:r>
              <a:t>    checks = [</a:t>
            </a:r>
            <a:br/>
            <a:r>
              <a:t>        check("sanctions", 0.12, True),</a:t>
            </a:r>
            <a:br/>
            <a:r>
              <a:t>        check("velocity", 0.08, True),</a:t>
            </a:r>
            <a:br/>
            <a:r>
              <a:t>        check("device", 0.15, True),</a:t>
            </a:r>
            <a:br/>
            <a:r>
              <a:t>        check("account", 0.05, True),</a:t>
            </a:r>
            <a:br/>
            <a:r>
              <a:t>    ]</a:t>
            </a:r>
            <a:br/>
            <a:r>
              <a:t>    results = await asyncio.gather(*checks, return_exceptions=True)</a:t>
            </a:r>
            <a:br/>
            <a:r>
              <a:t>    for result in results:</a:t>
            </a:r>
            <a:br/>
            <a:r>
              <a:t>        if isinstance(result, Exception):</a:t>
            </a:r>
            <a:br/>
            <a:r>
              <a:t>            return False</a:t>
            </a:r>
            <a:br/>
            <a:r>
              <a:t>        if not result.approved:</a:t>
            </a:r>
            <a:br/>
            <a:r>
              <a:t>            return False</a:t>
            </a:r>
            <a:br/>
            <a:r>
              <a:t>    return True</a:t>
            </a:r>
            <a:br/>
            <a:br/>
            <a:r>
              <a:t>async def main() -&gt; None:</a:t>
            </a:r>
            <a:br/>
            <a:r>
              <a:t>    print("approved=", await authorize())</a:t>
            </a:r>
            <a:br/>
            <a:br/>
            <a:r>
              <a:t>if __name__ == "__main__":</a:t>
            </a:r>
            <a:br/>
            <a:r>
              <a:t>    asyncio.run(main())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1.3 Hands-on: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Run the orchestrator repeatedly and compare sequential vs concurrent implementations.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Inject a 1.5-second delay into one check and confirm the timeout/failure policy returns a deterministic deny decision.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Run with 100 concurrent authorization requests and observe whether downstream limits are respected.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Production extension: add an asyncio.Semaphore around external calls, structured logs, metrics and retry only for transient failures.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Verification: no task leaks, no unbounded fan-out, timeouts are enforced, and business decisions remain deterministic.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1.4 High-Performance Service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Theory &amp; Architecture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Where latency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Serialization/deserialization: JSON parsing, validation, response encoding.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Connection setup: TLS, TCP, database sessions, HTTP clients.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Downstream waits: database queries, remote APIs, queues.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Contention: locks, pool limits, CPU saturation, event-loop blocking.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Optimization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Connection pooling and keep-alive.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Batching and bulk operations.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Cache stable/read-heavy data with explicit TTL/invalidation semantics.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Move expensive work off request path using queues/background workers.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Use backpressure and bounded queues to prevent cascading overload.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1.4 FastAPI Performance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Code Syntax &amp;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47548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26496" cy="45354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from contextlib import asynccontextmanager</a:t>
            </a:r>
            <a:br/>
            <a:r>
              <a:t>from fastapi import FastAPI, HTTPException</a:t>
            </a:r>
            <a:br/>
            <a:r>
              <a:t>from pydantic import BaseModel</a:t>
            </a:r>
            <a:br/>
            <a:br/>
            <a:r>
              <a:t>class Product(BaseModel):</a:t>
            </a:r>
            <a:br/>
            <a:r>
              <a:t>    id: int</a:t>
            </a:r>
            <a:br/>
            <a:r>
              <a:t>    price: float</a:t>
            </a:r>
            <a:br/>
            <a:br/>
            <a:r>
              <a:t>PRODUCTS = {1: Product(id=1, price=99.0), 2: Product(id=2, price=149.0)}</a:t>
            </a:r>
            <a:br/>
            <a:br/>
            <a:r>
              <a:t>@asynccontextmanager</a:t>
            </a:r>
            <a:br/>
            <a:r>
              <a:t>async def lifespan(app: FastAPI):</a:t>
            </a:r>
            <a:br/>
            <a:r>
              <a:t>    # Initialize shared clients/pools once per process.</a:t>
            </a:r>
            <a:br/>
            <a:r>
              <a:t>    app.state.client = object()  # replace with a real async client</a:t>
            </a:r>
            <a:br/>
            <a:r>
              <a:t>    yield</a:t>
            </a:r>
            <a:br/>
            <a:r>
              <a:t>    # Close pools/clients here.</a:t>
            </a:r>
            <a:br/>
            <a:br/>
            <a:r>
              <a:t>app = FastAPI(lifespan=lifespan)</a:t>
            </a:r>
            <a:br/>
            <a:br/>
            <a:r>
              <a:t>@app.get("/products/{product_id}", response_model=Product)</a:t>
            </a:r>
            <a:br/>
            <a:r>
              <a:t>async def get_product(product_id: int) -&gt; Product:</a:t>
            </a:r>
            <a:br/>
            <a:r>
              <a:t>    product = PRODUCTS.get(product_id)</a:t>
            </a:r>
            <a:br/>
            <a:r>
              <a:t>    if product is None:</a:t>
            </a:r>
            <a:br/>
            <a:r>
              <a:t>        raise HTTPException(status_code=404, detail="product not found")</a:t>
            </a:r>
            <a:br/>
            <a:r>
              <a:t>    return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1E242C"/>
                </a:solidFill>
              </a:defRPr>
            </a:pPr>
            <a:r>
              <a:t>Never create a database/HTTP client per request; initialize reusable resources at process startup.</a:t>
            </a:r>
          </a:p>
          <a:p>
            <a:pPr>
              <a:spcAft>
                <a:spcPts val="900"/>
              </a:spcAft>
              <a:defRPr sz="1100" b="0">
                <a:solidFill>
                  <a:srgbClr val="1E242C"/>
                </a:solidFill>
              </a:defRPr>
            </a:pPr>
            <a:r>
              <a:t>Keep blocking CPU/file/database work out of the async event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1.4 Hands-on: E-commerce Product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Enterprise Example • FastAPI + cache + bounded downstream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8288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926080"/>
            <a:ext cx="59436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2468880"/>
            <a:ext cx="18288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FastAPI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66360" y="2926080"/>
            <a:ext cx="59436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60720" y="2468880"/>
            <a:ext cx="18288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Cache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2926080"/>
            <a:ext cx="59436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79" y="2468880"/>
            <a:ext cx="18288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Async DB/API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12680" y="2926080"/>
            <a:ext cx="59436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607040" y="2468880"/>
            <a:ext cx="18288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Scenario: product detail traffic is read-heavy. The upstream catalog changes less frequently than it is read.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Use an in-process TTL cache for a lab; in production, use a shared cache when multiple service replicas must observe the same state.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Measure cold-cache vs warm-cache latency and verify cache expiration.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Important trade-off: caching improves latency/load but introduces staleness and invalidation complexity.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1.4 Hands-on: Complete FastAPI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11338560" cy="49834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44168"/>
            <a:ext cx="11009376" cy="476402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4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import asyncio</a:t>
            </a:r>
            <a:br/>
            <a:r>
              <a:t>import time</a:t>
            </a:r>
            <a:br/>
            <a:r>
              <a:t>from dataclasses import dataclass</a:t>
            </a:r>
            <a:br/>
            <a:br/>
            <a:r>
              <a:t>from fastapi import FastAPI, HTTPException</a:t>
            </a:r>
            <a:br/>
            <a:br/>
            <a:r>
              <a:t>app = FastAPI()</a:t>
            </a:r>
            <a:br/>
            <a:br/>
            <a:r>
              <a:t>@dataclass(frozen=True, slots=True)</a:t>
            </a:r>
            <a:br/>
            <a:r>
              <a:t>class Product:</a:t>
            </a:r>
            <a:br/>
            <a:r>
              <a:t>    id: int</a:t>
            </a:r>
            <a:br/>
            <a:r>
              <a:t>    name: str</a:t>
            </a:r>
            <a:br/>
            <a:r>
              <a:t>    price: float</a:t>
            </a:r>
            <a:br/>
            <a:br/>
            <a:r>
              <a:t>DATA = {1: Product(1, "Keyboard", 89.0), 2: Product(2, "Monitor", 299.0)}</a:t>
            </a:r>
            <a:br/>
            <a:r>
              <a:t>CACHE: dict[int, tuple[float, Product]] = {}</a:t>
            </a:r>
            <a:br/>
            <a:r>
              <a:t>TTL_SECONDS = 10.0</a:t>
            </a:r>
            <a:br/>
            <a:br/>
            <a:r>
              <a:t>async def load_product(product_id: int) -&gt; Product | None:</a:t>
            </a:r>
            <a:br/>
            <a:r>
              <a:t>    await asyncio.sleep(0.03)  # simulate async DB/API latency</a:t>
            </a:r>
            <a:br/>
            <a:r>
              <a:t>    return DATA.get(product_id)</a:t>
            </a:r>
            <a:br/>
            <a:br/>
            <a:r>
              <a:t>@app.get("/products/{product_id}")</a:t>
            </a:r>
            <a:br/>
            <a:r>
              <a:t>async def product(product_id: int) -&gt; dict[str, object]:</a:t>
            </a:r>
            <a:br/>
            <a:r>
              <a:t>    now = time.monotonic()</a:t>
            </a:r>
            <a:br/>
            <a:r>
              <a:t>    cached = CACHE.get(product_id)</a:t>
            </a:r>
            <a:br/>
            <a:r>
              <a:t>    if cached and now - cached[0] &lt; TTL_SECONDS:</a:t>
            </a:r>
            <a:br/>
            <a:r>
              <a:t>        p = cached[1]</a:t>
            </a:r>
            <a:br/>
            <a:r>
              <a:t>        return {"id": p.id, "name": p.name, "price": p.price, "cache": "hit"}</a:t>
            </a:r>
            <a:br/>
            <a:br/>
            <a:r>
              <a:t>    p = await load_product(product_id)</a:t>
            </a:r>
            <a:br/>
            <a:r>
              <a:t>    if p is None:</a:t>
            </a:r>
            <a:br/>
            <a:r>
              <a:t>        raise HTTPException(404, "product not found")</a:t>
            </a:r>
            <a:br/>
            <a:r>
              <a:t>    CACHE[product_id] = (now, p)</a:t>
            </a:r>
            <a:br/>
            <a:r>
              <a:t>    return {"id": p.id, "name": p.name, "price": p.price, "cache": "miss"}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1.4 Hands-on: Run &amp;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Install: python -m pip install fastapi uvicorn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Run: uvicorn app:app --host 127.0.0.1 --port 8000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Test: open /docs, request GET /products/1 twice, and observe miss → hit.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Load test concept: use a representative tool such as k6/Locust/hey in a controlled environment; compare p50/p95/p99.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Production hardening: replace the in-memory cache with Redis when replicas are involved; add cache stampede protection for hot keys.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Verification: endpoint returns 200 for known products, 404 for unknown products, and repeated reads avoid the simulated downstream delay.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Optimization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Cross-cutting engineering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Code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Prefer appropriate algorithms and data structures.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Avoid repeated parsing/conversion and accidental O(n²) loops.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Bound memory with iterators, batches and streaming.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Use local variables and simple hot paths only after profiling.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Validate optimization with correctness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2F5F8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5B91"/>
                </a:solidFill>
              </a:defRPr>
            </a:pPr>
            <a:r>
              <a:t>Service / platform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Pool connections; reuse clients.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Set timeouts and concurrency limits.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Instrument latency percentiles and saturation.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Load-test with production-like payloads and dependencies.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Roll out gradually and watch regression signals.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Observability for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Measure before and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324612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0643616" cy="3026663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from __future__ import annotations</a:t>
            </a:r>
            <a:br/>
            <a:br/>
            <a:r>
              <a:t>import logging</a:t>
            </a:r>
            <a:br/>
            <a:r>
              <a:t>import time</a:t>
            </a:r>
            <a:br/>
            <a:r>
              <a:t>from collections.abc import Callable</a:t>
            </a:r>
            <a:br/>
            <a:r>
              <a:t>from typing import TypeVar</a:t>
            </a:r>
            <a:br/>
            <a:br/>
            <a:r>
              <a:t>T = TypeVar("T")</a:t>
            </a:r>
            <a:br/>
            <a:r>
              <a:t>log = logging.getLogger("performance")</a:t>
            </a:r>
            <a:br/>
            <a:br/>
            <a:r>
              <a:t>def timed(name: str, fn: Callable[[], T]) -&gt; T:</a:t>
            </a:r>
            <a:br/>
            <a:r>
              <a:t>    start = time.perf_counter()</a:t>
            </a:r>
            <a:br/>
            <a:r>
              <a:t>    try:</a:t>
            </a:r>
            <a:br/>
            <a:r>
              <a:t>        return fn()</a:t>
            </a:r>
            <a:br/>
            <a:r>
              <a:t>    finally:</a:t>
            </a:r>
            <a:br/>
            <a:r>
              <a:t>        elapsed_ms = (time.perf_counter() - start) * 1_000</a:t>
            </a:r>
            <a:br/>
            <a:r>
              <a:t>        log.info("operation=%s duration_ms=%.2f", name, elapsed_ms)</a:t>
            </a:r>
            <a:br/>
            <a:br/>
            <a:r>
              <a:t>result = timed("pricing", lambda: sum(i * i for i in range(100_000)))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Use monotonic/perf_counter for elapsed-time measurement; wall-clock time can move due to clock synchronization.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Production telemetry should correlate request ID, operation, duration, status and dependency timings.</a:t>
            </a:r>
          </a:p>
          <a:p>
            <a:pPr>
              <a:spcAft>
                <a:spcPts val="900"/>
              </a:spcAft>
              <a:defRPr sz="1400" b="0">
                <a:solidFill>
                  <a:srgbClr val="1E242C"/>
                </a:solidFill>
              </a:defRPr>
            </a:pPr>
            <a:r>
              <a:t>Percentiles matter: average latency can hide a long tail caused by queueing or downstream saturation.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Advanced Exercise: End-to-End Performance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Build a mini order-summary service with 10,000 products and 100 line items per request.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Version A: naive list membership, sequential downstream calls, per-request client creation.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Version B: set-based lookup, bounded asyncio concurrency, reusable client/pool, TTL cache.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Collect: throughput, p50/p95/p99, CPU, RSS, allocation snapshots and downstream call count.</a:t>
            </a:r>
          </a:p>
          <a:p>
            <a:pPr>
              <a:spcAft>
                <a:spcPts val="900"/>
              </a:spcAft>
              <a:defRPr sz="1600" b="0">
                <a:solidFill>
                  <a:srgbClr val="1E242C"/>
                </a:solidFill>
              </a:defRPr>
            </a:pPr>
            <a:r>
              <a:t>Acceptance criteria: preserve correctness; demonstrate measurable improvement under a repeatable workload; document trade-offs rather than claiming a universal speedup.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Baseline 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571500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0008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Profile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571500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68496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Optimize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85816" y="5715000"/>
            <a:ext cx="201167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86984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Load 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04304" y="571500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05472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Compare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22792" y="571500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Regression 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41280" y="571500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42448" y="5257800"/>
            <a:ext cx="1417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Reference Architecture: Optimized Python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Ingress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278892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04288" y="233172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FastAPI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04487" y="278892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05656" y="233172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Service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5856" y="278892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07024" y="233172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Cache / Pool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07224" y="278892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08392" y="233172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Async Dependencies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08592" y="278892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2331720"/>
            <a:ext cx="1600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640"/>
                </a:solidFill>
              </a:defRPr>
            </a:pPr>
            <a:r>
              <a:t>Metrics /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Request path is short and bounded; expensive work is batched or moved off-path.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Shared clients/pools are initialized once per process and closed cleanly.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Concurrency is explicitly limited at the service boundary and dependency boundary.</a:t>
            </a:r>
          </a:p>
          <a:p>
            <a:pPr>
              <a:spcAft>
                <a:spcPts val="900"/>
              </a:spcAft>
              <a:defRPr sz="1500" b="0">
                <a:solidFill>
                  <a:srgbClr val="1E242C"/>
                </a:solidFill>
              </a:defRPr>
            </a:pPr>
            <a:r>
              <a:t>Observability is part of the architecture, not an afterthought.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Lab Deliverables &amp; Review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Deliverable 1: benchmark script with reproducible workload and baseline measurements.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Deliverable 2: profiler output identifying the dominant bottleneck.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Deliverable 3: optimized implementation with correctness tests.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Deliverable 4: load-test report containing p50/p95/p99, throughput, CPU and memory observations.</a:t>
            </a:r>
          </a:p>
          <a:p>
            <a:pPr>
              <a:spcAft>
                <a:spcPts val="900"/>
              </a:spcAft>
              <a:defRPr sz="1700" b="0">
                <a:solidFill>
                  <a:srgbClr val="1E242C"/>
                </a:solidFill>
              </a:defRPr>
            </a:pPr>
            <a:r>
              <a:t>Deliverable 5: one-page engineering decision record documenting what changed, why, risks, and rollback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Key Engineering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1. Measure first. A benchmark without a representative workload is not evidence.</a:t>
            </a:r>
          </a:p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2. Optimize the bottleneck, not the most visible code.</a:t>
            </a:r>
          </a:p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3. Prefer algorithmic and architectural improvements before micro-optimizations.</a:t>
            </a:r>
          </a:p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4. Bound concurrency, memory and downstream pressure.</a:t>
            </a:r>
          </a:p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5. Preserve correctness and observability while optimizing.</a:t>
            </a:r>
          </a:p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6. Treat p95/p99 and saturation as first-class production signals.</a:t>
            </a:r>
          </a:p>
          <a:p>
            <a:pPr>
              <a:spcAft>
                <a:spcPts val="900"/>
              </a:spcAft>
              <a:defRPr sz="1900" b="0">
                <a:solidFill>
                  <a:srgbClr val="1E242C"/>
                </a:solidFill>
              </a:defRPr>
            </a:pPr>
            <a:r>
              <a:t>7. Make performance repeatable through automated benchmarks and load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Python Microservices and Enterprise Integration  •  Module 1: Python Performance Optimization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Module 1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0DDED"/>
                </a:solidFill>
              </a:defRPr>
            </a:pPr>
            <a:r>
              <a:t>Python performance optimization is an engineering discipline: establish evidence, identify the limiting resource, optimize at the right layer, and verify under realistic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