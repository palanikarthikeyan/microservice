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Flask for Beginners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/>
              <a:t>REST APIs and Microservices with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89920" cy="872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rPr dirty="0"/>
              <a:t>Every topic follows: Definition → Syntax → Example → Practical API use case</a:t>
            </a:r>
          </a:p>
          <a:p>
            <a:pPr>
              <a:spcAft>
                <a:spcPts val="800"/>
              </a:spcAft>
              <a:defRPr sz="2200"/>
            </a:pPr>
            <a:r>
              <a:rPr dirty="0"/>
              <a:t>Hands-on journey: simple Flask app → REST API → database API → microservice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Course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1. Flask fundamentals and project setup</a:t>
            </a:r>
          </a:p>
          <a:p>
            <a:pPr>
              <a:spcAft>
                <a:spcPts val="800"/>
              </a:spcAft>
              <a:defRPr sz="1800"/>
            </a:pPr>
            <a:r>
              <a:t>2. Routes, HTTP methods, requests and responses</a:t>
            </a:r>
          </a:p>
          <a:p>
            <a:pPr>
              <a:spcAft>
                <a:spcPts val="800"/>
              </a:spcAft>
              <a:defRPr sz="1800"/>
            </a:pPr>
            <a:r>
              <a:t>3. JSON and REST API design</a:t>
            </a:r>
          </a:p>
          <a:p>
            <a:pPr>
              <a:spcAft>
                <a:spcPts val="800"/>
              </a:spcAft>
              <a:defRPr sz="1800"/>
            </a:pPr>
            <a:r>
              <a:t>4. CRUD API with an in-memory data store</a:t>
            </a:r>
          </a:p>
          <a:p>
            <a:pPr>
              <a:spcAft>
                <a:spcPts val="800"/>
              </a:spcAft>
              <a:defRPr sz="1800"/>
            </a:pPr>
            <a:r>
              <a:t>5. Error handling, validation and API testing</a:t>
            </a:r>
          </a:p>
          <a:p>
            <a:pPr>
              <a:spcAft>
                <a:spcPts val="800"/>
              </a:spcAft>
              <a:defRPr sz="1800"/>
            </a:pPr>
            <a:r>
              <a:t>6. Database integration with SQLAlchemy</a:t>
            </a:r>
          </a:p>
          <a:p>
            <a:pPr>
              <a:spcAft>
                <a:spcPts val="800"/>
              </a:spcAft>
              <a:defRPr sz="1800"/>
            </a:pPr>
            <a:r>
              <a:t>7. Blueprints and application structure</a:t>
            </a:r>
          </a:p>
          <a:p>
            <a:pPr>
              <a:spcAft>
                <a:spcPts val="800"/>
              </a:spcAft>
              <a:defRPr sz="1800"/>
            </a:pPr>
            <a:r>
              <a:t>8. Microservice architecture and service-to-service communication</a:t>
            </a:r>
          </a:p>
          <a:p>
            <a:pPr>
              <a:spcAft>
                <a:spcPts val="800"/>
              </a:spcAft>
              <a:defRPr sz="1800"/>
            </a:pPr>
            <a:r>
              <a:t>9. Authentication basics with JWT</a:t>
            </a:r>
          </a:p>
          <a:p>
            <a:pPr>
              <a:spcAft>
                <a:spcPts val="800"/>
              </a:spcAft>
              <a:defRPr sz="1800"/>
            </a:pPr>
            <a:r>
              <a:t>10. Production concepts and final mini-project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1. Installing Flask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Definition</a:t>
            </a:r>
          </a:p>
          <a:p>
            <a:pPr>
              <a:defRPr sz="1600"/>
            </a:pPr>
            <a:r>
              <a:t>Flask is a lightweight Python web framework used to build web applications and HTTP/REST APIs.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Syntax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31720"/>
            <a:ext cx="5212080" cy="1417320"/>
          </a:xfrm>
          <a:prstGeom prst="roundRect">
            <a:avLst/>
          </a:prstGeom>
          <a:solidFill>
            <a:srgbClr val="F5F7FA"/>
          </a:solidFill>
          <a:ln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2441448"/>
            <a:ext cx="4882896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latin typeface="Consolas"/>
              </a:rPr>
              <a:t>python -m venv .venv
.venv\Scripts\activate
pip install flask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20116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Example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331720"/>
            <a:ext cx="5349240" cy="2606040"/>
          </a:xfrm>
          <a:prstGeom prst="roundRect">
            <a:avLst/>
          </a:prstGeom>
          <a:solidFill>
            <a:srgbClr val="F5F7FA"/>
          </a:solidFill>
          <a:ln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91072" y="2441448"/>
            <a:ext cx="5020055" cy="23865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Consolas"/>
              </a:rPr>
              <a:t>from flask import Flask
app = Flask(__name__)
if __name__ == '__main__':
    app.run(debug=True)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60520"/>
            <a:ext cx="10881360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REST API / Microservice use case</a:t>
            </a:r>
          </a:p>
          <a:p>
            <a:pPr>
              <a:defRPr sz="1600"/>
            </a:pPr>
            <a:r>
              <a:t>Create an isolated environment for each microservice so its dependencies do not conflict with other services.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2. Creating a Flask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Definition</a:t>
            </a:r>
          </a:p>
          <a:p>
            <a:pPr>
              <a:defRPr sz="1600"/>
            </a:pPr>
            <a:r>
              <a:t>A Flask application object receives HTTP requests and dispatches them to your Python functions.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Syntax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31720"/>
            <a:ext cx="5212080" cy="1417320"/>
          </a:xfrm>
          <a:prstGeom prst="roundRect">
            <a:avLst/>
          </a:prstGeom>
          <a:solidFill>
            <a:srgbClr val="F5F7FA"/>
          </a:solidFill>
          <a:ln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2441448"/>
            <a:ext cx="4882896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latin typeface="Consolas"/>
              </a:rPr>
              <a:t>app = Flask(__name__)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20116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Example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331720"/>
            <a:ext cx="5349240" cy="2606040"/>
          </a:xfrm>
          <a:prstGeom prst="roundRect">
            <a:avLst/>
          </a:prstGeom>
          <a:solidFill>
            <a:srgbClr val="F5F7FA"/>
          </a:solidFill>
          <a:ln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91072" y="2441448"/>
            <a:ext cx="5020055" cy="23865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Consolas"/>
              </a:rPr>
              <a:t>from flask import Flask
app = Flask(__name__)
@app.route('/')
def home():
    return 'Hello Flask!'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60520"/>
            <a:ext cx="10881360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REST API / Microservice use case</a:t>
            </a:r>
          </a:p>
          <a:p>
            <a:pPr>
              <a:defRPr sz="1600"/>
            </a:pPr>
            <a:r>
              <a:t>Each service normally owns its own Flask application and exposes a clear set of endpoints.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3. Running the Flask Server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Definition</a:t>
            </a:r>
          </a:p>
          <a:p>
            <a:pPr>
              <a:defRPr sz="1600"/>
            </a:pPr>
            <a:r>
              <a:t>The development server lets you run and test your Flask application locally.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Syntax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31720"/>
            <a:ext cx="5212080" cy="1417320"/>
          </a:xfrm>
          <a:prstGeom prst="roundRect">
            <a:avLst/>
          </a:prstGeom>
          <a:solidFill>
            <a:srgbClr val="F5F7FA"/>
          </a:solidFill>
          <a:ln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2441448"/>
            <a:ext cx="4882896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latin typeface="Consolas"/>
              </a:rPr>
              <a:t>app.run(host='127.0.0.1', port=5000, debug=True)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20116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Example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331720"/>
            <a:ext cx="5349240" cy="2606040"/>
          </a:xfrm>
          <a:prstGeom prst="roundRect">
            <a:avLst/>
          </a:prstGeom>
          <a:solidFill>
            <a:srgbClr val="F5F7FA"/>
          </a:solidFill>
          <a:ln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91072" y="2441448"/>
            <a:ext cx="5020055" cy="23865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Consolas"/>
              </a:rPr>
              <a:t>if __name__ == '__main__':
    app.run(debug=True)
# Browser:
# http://127.0.0.1:5000/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60520"/>
            <a:ext cx="10881360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REST API / Microservice use case</a:t>
            </a:r>
          </a:p>
          <a:p>
            <a:pPr>
              <a:defRPr sz="1600"/>
            </a:pPr>
            <a:r>
              <a:t>During development, each microservice can run on a different port, such as 5001, 5002 and 5003.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4. Flask Routes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Definition</a:t>
            </a:r>
          </a:p>
          <a:p>
            <a:pPr>
              <a:defRPr sz="1600"/>
            </a:pPr>
            <a:r>
              <a:t>A route maps a URL path to a Python function that handles the request.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Syntax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31720"/>
            <a:ext cx="5212080" cy="1417320"/>
          </a:xfrm>
          <a:prstGeom prst="roundRect">
            <a:avLst/>
          </a:prstGeom>
          <a:solidFill>
            <a:srgbClr val="F5F7FA"/>
          </a:solidFill>
          <a:ln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2441448"/>
            <a:ext cx="4882896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latin typeface="Consolas"/>
              </a:rPr>
              <a:t>@app.route('/path')
def function():
    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20116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Example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331720"/>
            <a:ext cx="5349240" cy="2606040"/>
          </a:xfrm>
          <a:prstGeom prst="roundRect">
            <a:avLst/>
          </a:prstGeom>
          <a:solidFill>
            <a:srgbClr val="F5F7FA"/>
          </a:solidFill>
          <a:ln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91072" y="2441448"/>
            <a:ext cx="5020055" cy="23865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Consolas"/>
              </a:rPr>
              <a:t>@app.route('/hello')
def hello():
    return 'Hello!'
# GET /hello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60520"/>
            <a:ext cx="10881360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REST API / Microservice use case</a:t>
            </a:r>
          </a:p>
          <a:p>
            <a:pPr>
              <a:defRPr sz="1600"/>
            </a:pPr>
            <a:r>
              <a:t>Routes become API endpoints such as /customers, /orders and /products.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5. HTTP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Definition</a:t>
            </a:r>
          </a:p>
          <a:p>
            <a:pPr>
              <a:defRPr sz="1600"/>
            </a:pPr>
            <a:r>
              <a:t>HTTP methods describe what a client wants to do with a resource.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Syntax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31720"/>
            <a:ext cx="5212080" cy="1417320"/>
          </a:xfrm>
          <a:prstGeom prst="roundRect">
            <a:avLst/>
          </a:prstGeom>
          <a:solidFill>
            <a:srgbClr val="F5F7FA"/>
          </a:solidFill>
          <a:ln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2441448"/>
            <a:ext cx="4882896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latin typeface="Consolas"/>
              </a:rPr>
              <a:t>@app.route('/users', methods=['GET', 'POST'])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20116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Example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331720"/>
            <a:ext cx="5349240" cy="2606040"/>
          </a:xfrm>
          <a:prstGeom prst="roundRect">
            <a:avLst/>
          </a:prstGeom>
          <a:solidFill>
            <a:srgbClr val="F5F7FA"/>
          </a:solidFill>
          <a:ln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91072" y="2441448"/>
            <a:ext cx="5020055" cy="23865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Consolas"/>
              </a:rPr>
              <a:t>@app.route('/users/&lt;int:user_id&gt;', methods=['GET'])
def get_user(user_id):
    return f'User {user_id}'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60520"/>
            <a:ext cx="10881360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REST API / Microservice use case</a:t>
            </a:r>
          </a:p>
          <a:p>
            <a:pPr>
              <a:defRPr sz="1600"/>
            </a:pPr>
            <a:r>
              <a:t>GET reads data; POST creates data; PUT/PATCH updates data; DELETE removes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6. URL 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Definition</a:t>
            </a:r>
          </a:p>
          <a:p>
            <a:pPr>
              <a:defRPr sz="1600"/>
            </a:pPr>
            <a:r>
              <a:t>A URL parameter captures a value directly from the URL path.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Syntax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31720"/>
            <a:ext cx="5212080" cy="1417320"/>
          </a:xfrm>
          <a:prstGeom prst="roundRect">
            <a:avLst/>
          </a:prstGeom>
          <a:solidFill>
            <a:srgbClr val="F5F7FA"/>
          </a:solidFill>
          <a:ln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2441448"/>
            <a:ext cx="4882896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latin typeface="Consolas"/>
              </a:rPr>
              <a:t>@app.route('/users/&lt;int:id&gt;')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20116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Example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331720"/>
            <a:ext cx="5349240" cy="2606040"/>
          </a:xfrm>
          <a:prstGeom prst="roundRect">
            <a:avLst/>
          </a:prstGeom>
          <a:solidFill>
            <a:srgbClr val="F5F7FA"/>
          </a:solidFill>
          <a:ln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91072" y="2441448"/>
            <a:ext cx="5020055" cy="23865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Consolas"/>
              </a:rPr>
              <a:t>@app.route('/users/&lt;int:id&gt;')
def get_user(id):
    return {
        'id': id,
        'name': 'Anita'
    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60520"/>
            <a:ext cx="10881360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REST API / Microservice use case</a:t>
            </a:r>
          </a:p>
          <a:p>
            <a:pPr>
              <a:defRPr sz="1600"/>
            </a:pPr>
            <a:r>
              <a:t>Useful for resource-specific endpoints such as GET /orders/101 or GET /customers/25.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7. Query 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Definition</a:t>
            </a:r>
          </a:p>
          <a:p>
            <a:pPr>
              <a:defRPr sz="1600"/>
            </a:pPr>
            <a:r>
              <a:t>Query parameters provide optional filters or controls after the ? in a URL.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Syntax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31720"/>
            <a:ext cx="5212080" cy="1417320"/>
          </a:xfrm>
          <a:prstGeom prst="roundRect">
            <a:avLst/>
          </a:prstGeom>
          <a:solidFill>
            <a:srgbClr val="F5F7FA"/>
          </a:solidFill>
          <a:ln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2441448"/>
            <a:ext cx="4882896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latin typeface="Consolas"/>
              </a:rPr>
              <a:t>request.args.get('name')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20116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Example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331720"/>
            <a:ext cx="5349240" cy="2606040"/>
          </a:xfrm>
          <a:prstGeom prst="roundRect">
            <a:avLst/>
          </a:prstGeom>
          <a:solidFill>
            <a:srgbClr val="F5F7FA"/>
          </a:solidFill>
          <a:ln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91072" y="2441448"/>
            <a:ext cx="5020055" cy="23865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Consolas"/>
              </a:rPr>
              <a:t>from flask import request
@app.route('/customers')
def customers():
    name = request.args.get('name')
    return {'search': name}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60520"/>
            <a:ext cx="10881360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REST API / Microservice use case</a:t>
            </a:r>
          </a:p>
          <a:p>
            <a:pPr>
              <a:defRPr sz="1600"/>
            </a:pPr>
            <a:r>
              <a:t>Example: GET /customers?name=ABC can filter customer records.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8. JSON Responses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Definition</a:t>
            </a:r>
          </a:p>
          <a:p>
            <a:pPr>
              <a:defRPr sz="1600"/>
            </a:pPr>
            <a:r>
              <a:t>JSON is the common data format used by REST APIs because it is simple for applications to exchange structured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Syntax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31720"/>
            <a:ext cx="5212080" cy="1417320"/>
          </a:xfrm>
          <a:prstGeom prst="roundRect">
            <a:avLst/>
          </a:prstGeom>
          <a:solidFill>
            <a:srgbClr val="F5F7FA"/>
          </a:solidFill>
          <a:ln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2441448"/>
            <a:ext cx="4882896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latin typeface="Consolas"/>
              </a:rPr>
              <a:t>return jsonify({'key': 'value'})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20116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Example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331720"/>
            <a:ext cx="5349240" cy="2606040"/>
          </a:xfrm>
          <a:prstGeom prst="roundRect">
            <a:avLst/>
          </a:prstGeom>
          <a:solidFill>
            <a:srgbClr val="F5F7FA"/>
          </a:solidFill>
          <a:ln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91072" y="2441448"/>
            <a:ext cx="5020055" cy="23865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Consolas"/>
              </a:rPr>
              <a:t>from flask import jsonify
@app.route('/api/status')
def status():
    return jsonify({
        'service': 'customer-service',
        'status': 'UP'
    })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60520"/>
            <a:ext cx="10881360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REST API / Microservice use case</a:t>
            </a:r>
          </a:p>
          <a:p>
            <a:pPr>
              <a:defRPr sz="1600"/>
            </a:pPr>
            <a:r>
              <a:t>A frontend, mobile app or another microservice can consume the JSON response.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9. Reading JSON Request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Definition</a:t>
            </a:r>
          </a:p>
          <a:p>
            <a:pPr>
              <a:defRPr sz="1600"/>
            </a:pPr>
            <a:r>
              <a:t>request.get_json() reads a JSON body sent by a client.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Syntax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31720"/>
            <a:ext cx="5212080" cy="1417320"/>
          </a:xfrm>
          <a:prstGeom prst="roundRect">
            <a:avLst/>
          </a:prstGeom>
          <a:solidFill>
            <a:srgbClr val="F5F7FA"/>
          </a:solidFill>
          <a:ln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2441448"/>
            <a:ext cx="4882896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latin typeface="Consolas"/>
              </a:rPr>
              <a:t>data = request.get_json()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20116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Example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331720"/>
            <a:ext cx="5349240" cy="2606040"/>
          </a:xfrm>
          <a:prstGeom prst="roundRect">
            <a:avLst/>
          </a:prstGeom>
          <a:solidFill>
            <a:srgbClr val="F5F7FA"/>
          </a:solidFill>
          <a:ln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91072" y="2441448"/>
            <a:ext cx="5020055" cy="23865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Consolas"/>
              </a:rPr>
              <a:t>from flask import request, jsonify
@app.post('/api/customers')
def create_customer():
    data = request.get_json()
    return jsonify(data), 201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60520"/>
            <a:ext cx="10881360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REST API / Microservice use case</a:t>
            </a:r>
          </a:p>
          <a:p>
            <a:pPr>
              <a:defRPr sz="1600"/>
            </a:pPr>
            <a:r>
              <a:t>POST /api/customers can receive {"name":"ABC", "city":"Bengaluru"} from Postman or another service.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10. REST API — What Is 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Definition</a:t>
            </a:r>
          </a:p>
          <a:p>
            <a:pPr>
              <a:defRPr sz="1600"/>
            </a:pPr>
            <a:r>
              <a:t>A REST API exposes resources through URLs and uses HTTP methods to perform operations on those resources.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Syntax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31720"/>
            <a:ext cx="5212080" cy="1417320"/>
          </a:xfrm>
          <a:prstGeom prst="roundRect">
            <a:avLst/>
          </a:prstGeom>
          <a:solidFill>
            <a:srgbClr val="F5F7FA"/>
          </a:solidFill>
          <a:ln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2441448"/>
            <a:ext cx="4882896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latin typeface="Consolas"/>
              </a:rPr>
              <a:t>GET /customers
POST /customers
GET /customers/10
PUT /customers/10
DELETE /customers/10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20116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Example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331720"/>
            <a:ext cx="5349240" cy="2606040"/>
          </a:xfrm>
          <a:prstGeom prst="roundRect">
            <a:avLst/>
          </a:prstGeom>
          <a:solidFill>
            <a:srgbClr val="F5F7FA"/>
          </a:solidFill>
          <a:ln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91072" y="2441448"/>
            <a:ext cx="5020055" cy="23865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Consolas"/>
              </a:rPr>
              <a:t>GET /products
→ 200 OK
→ [{"id":1,"name":"Laptop"}]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60520"/>
            <a:ext cx="10881360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REST API / Microservice use case</a:t>
            </a:r>
          </a:p>
          <a:p>
            <a:pPr>
              <a:defRPr sz="1600"/>
            </a:pPr>
            <a:r>
              <a:t>Keep resource names as nouns. The HTTP method describes the operation.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11. CRUD REST API — Beginner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61872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Create → POST /products</a:t>
            </a:r>
          </a:p>
          <a:p>
            <a:pPr>
              <a:spcAft>
                <a:spcPts val="800"/>
              </a:spcAft>
              <a:defRPr sz="2000"/>
            </a:pPr>
            <a:r>
              <a:t>Read → GET /products and GET /products/&lt;id&gt;</a:t>
            </a:r>
          </a:p>
          <a:p>
            <a:pPr>
              <a:spcAft>
                <a:spcPts val="800"/>
              </a:spcAft>
              <a:defRPr sz="2000"/>
            </a:pPr>
            <a:r>
              <a:t>Update → PUT /products/&lt;id&gt;</a:t>
            </a:r>
          </a:p>
          <a:p>
            <a:pPr>
              <a:spcAft>
                <a:spcPts val="800"/>
              </a:spcAft>
              <a:defRPr sz="2000"/>
            </a:pPr>
            <a:r>
              <a:t>Delete → DELETE /products/&lt;id&gt;</a:t>
            </a:r>
          </a:p>
          <a:p>
            <a:pPr>
              <a:spcAft>
                <a:spcPts val="800"/>
              </a:spcAft>
              <a:defRPr sz="2000"/>
            </a:pPr>
            <a:r>
              <a:t>Start with a Python list before introducing a database.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685032"/>
            <a:ext cx="10835640" cy="2834640"/>
          </a:xfrm>
          <a:prstGeom prst="roundRect">
            <a:avLst/>
          </a:prstGeom>
          <a:solidFill>
            <a:srgbClr val="F5F7FA"/>
          </a:solidFill>
          <a:ln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0704" y="3867912"/>
            <a:ext cx="10506456" cy="2615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latin typeface="Consolas"/>
              </a:rPr>
              <a:t>products = []
@app.post('/products')
def create():
    data = request.get_json()
    products.append(data)
    return jsonify(data), 201
@app.get('/products')
def get_all():
    return jsonify(products)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12. HTTP Status Codes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Definition</a:t>
            </a:r>
          </a:p>
          <a:p>
            <a:pPr>
              <a:defRPr sz="1600"/>
            </a:pPr>
            <a:r>
              <a:t>Status codes tell the client whether a request succeeded or why it failed.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Syntax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31720"/>
            <a:ext cx="5212080" cy="1417320"/>
          </a:xfrm>
          <a:prstGeom prst="roundRect">
            <a:avLst/>
          </a:prstGeom>
          <a:solidFill>
            <a:srgbClr val="F5F7FA"/>
          </a:solidFill>
          <a:ln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2441448"/>
            <a:ext cx="4882896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latin typeface="Consolas"/>
              </a:rPr>
              <a:t>return jsonify(data), 201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20116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Example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331720"/>
            <a:ext cx="5349240" cy="2606040"/>
          </a:xfrm>
          <a:prstGeom prst="roundRect">
            <a:avLst/>
          </a:prstGeom>
          <a:solidFill>
            <a:srgbClr val="F5F7FA"/>
          </a:solidFill>
          <a:ln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91072" y="2441448"/>
            <a:ext cx="5020055" cy="23865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Consolas"/>
              </a:rPr>
              <a:t>200  OK → successful GET
201  Created → successful POST
400  Bad Request
401  Unauthorized
404  Not Found
500  Server Error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9120" y="4892040"/>
            <a:ext cx="10881360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 dirty="0"/>
              <a:t>REST API / Microservice use case</a:t>
            </a:r>
          </a:p>
          <a:p>
            <a:pPr>
              <a:defRPr sz="1600"/>
            </a:pPr>
            <a:r>
              <a:rPr dirty="0"/>
              <a:t>Consistent status codes make it easier for frontend applications and microservices to handle API results.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13. Error Handling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Definition</a:t>
            </a:r>
          </a:p>
          <a:p>
            <a:pPr>
              <a:defRPr sz="1600"/>
            </a:pPr>
            <a:r>
              <a:t>Error handlers return controlled responses instead of exposing confusing server errors to API clients.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Syntax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31720"/>
            <a:ext cx="5212080" cy="1417320"/>
          </a:xfrm>
          <a:prstGeom prst="roundRect">
            <a:avLst/>
          </a:prstGeom>
          <a:solidFill>
            <a:srgbClr val="F5F7FA"/>
          </a:solidFill>
          <a:ln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2441448"/>
            <a:ext cx="4882896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latin typeface="Consolas"/>
              </a:rPr>
              <a:t>@app.errorhandler(404)
def not_found(error):
    return ..., 404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20116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Example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331720"/>
            <a:ext cx="5349240" cy="2606040"/>
          </a:xfrm>
          <a:prstGeom prst="roundRect">
            <a:avLst/>
          </a:prstGeom>
          <a:solidFill>
            <a:srgbClr val="F5F7FA"/>
          </a:solidFill>
          <a:ln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91072" y="2441448"/>
            <a:ext cx="5020055" cy="23865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Consolas"/>
              </a:rPr>
              <a:t>@app.errorhandler(404)
def not_found(error):
    return jsonify({
        'error': 'Resource not found'
    }), 404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60520"/>
            <a:ext cx="10881360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REST API / Microservice use case</a:t>
            </a:r>
          </a:p>
          <a:p>
            <a:pPr>
              <a:defRPr sz="1600"/>
            </a:pPr>
            <a:r>
              <a:t>A microservice should return predictable error JSON so calling services can react appropriately.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14. Input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Definition</a:t>
            </a:r>
          </a:p>
          <a:p>
            <a:pPr>
              <a:defRPr sz="1600"/>
            </a:pPr>
            <a:r>
              <a:t>Validation checks whether incoming API data has the required fields and acceptable values.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Syntax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31720"/>
            <a:ext cx="5212080" cy="1417320"/>
          </a:xfrm>
          <a:prstGeom prst="roundRect">
            <a:avLst/>
          </a:prstGeom>
          <a:solidFill>
            <a:srgbClr val="F5F7FA"/>
          </a:solidFill>
          <a:ln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2441448"/>
            <a:ext cx="4882896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latin typeface="Consolas"/>
              </a:rPr>
              <a:t>if 'name' not in data:
    return ..., 400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20116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Example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331720"/>
            <a:ext cx="5349240" cy="2606040"/>
          </a:xfrm>
          <a:prstGeom prst="roundRect">
            <a:avLst/>
          </a:prstGeom>
          <a:solidFill>
            <a:srgbClr val="F5F7FA"/>
          </a:solidFill>
          <a:ln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91072" y="2441448"/>
            <a:ext cx="5020055" cy="23865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Consolas"/>
              </a:rPr>
              <a:t>data = request.get_json()
if not data or 'name' not in data:
    return jsonify({'error': 'name is required'}), 400
return jsonify(data), 201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60520"/>
            <a:ext cx="10881360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REST API / Microservice use case</a:t>
            </a:r>
          </a:p>
          <a:p>
            <a:pPr>
              <a:defRPr sz="1600"/>
            </a:pPr>
            <a:r>
              <a:t>Validate requests at the service boundary before writing data to a database or calling another service.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15. Testing REST APIs with Postman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Definition</a:t>
            </a:r>
          </a:p>
          <a:p>
            <a:pPr>
              <a:defRPr sz="1600"/>
            </a:pPr>
            <a:r>
              <a:t>Postman is a tool for sending HTTP requests and inspecting API responses.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Syntax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31720"/>
            <a:ext cx="5212080" cy="1417320"/>
          </a:xfrm>
          <a:prstGeom prst="roundRect">
            <a:avLst/>
          </a:prstGeom>
          <a:solidFill>
            <a:srgbClr val="F5F7FA"/>
          </a:solidFill>
          <a:ln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2441448"/>
            <a:ext cx="4882896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latin typeface="Consolas"/>
              </a:rPr>
              <a:t>Method + URL + Headers + Body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20116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Example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331720"/>
            <a:ext cx="5349240" cy="2606040"/>
          </a:xfrm>
          <a:prstGeom prst="roundRect">
            <a:avLst/>
          </a:prstGeom>
          <a:solidFill>
            <a:srgbClr val="F5F7FA"/>
          </a:solidFill>
          <a:ln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91072" y="2441448"/>
            <a:ext cx="5020055" cy="23865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Consolas"/>
              </a:rPr>
              <a:t>POST http://127.0.0.1:5000/products
Content-Type: application/json
{
  "id": 1,
  "name": "Laptop"
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60520"/>
            <a:ext cx="10881360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REST API / Microservice use case</a:t>
            </a:r>
          </a:p>
          <a:p>
            <a:pPr>
              <a:defRPr sz="1600"/>
            </a:pPr>
            <a:r>
              <a:t>Use Postman to test each endpoint independently before connecting services together.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16. Database Integration — SQLAlchemy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Definition</a:t>
            </a:r>
          </a:p>
          <a:p>
            <a:pPr>
              <a:defRPr sz="1600"/>
            </a:pPr>
            <a:r>
              <a:t>SQLAlchemy is a Python toolkit/ORM commonly used to work with relational databases from Flask applications.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Syntax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31720"/>
            <a:ext cx="5212080" cy="1417320"/>
          </a:xfrm>
          <a:prstGeom prst="roundRect">
            <a:avLst/>
          </a:prstGeom>
          <a:solidFill>
            <a:srgbClr val="F5F7FA"/>
          </a:solidFill>
          <a:ln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2441448"/>
            <a:ext cx="4882896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latin typeface="Consolas"/>
              </a:rPr>
              <a:t>db = SQLAlchemy(app)
class Product(db.Model):
    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20116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Example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331720"/>
            <a:ext cx="5349240" cy="2606040"/>
          </a:xfrm>
          <a:prstGeom prst="roundRect">
            <a:avLst/>
          </a:prstGeom>
          <a:solidFill>
            <a:srgbClr val="F5F7FA"/>
          </a:solidFill>
          <a:ln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91072" y="2441448"/>
            <a:ext cx="5020055" cy="23865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Consolas"/>
              </a:rPr>
              <a:t>from flask_sqlalchemy import SQLAlchemy
app.config['SQLALCHEMY_DATABASE_URI'] = 'sqlite:///app.db'
db = SQLAlchemy(app)
class Product(db.Model):
    id = db.Column(db.Integer, primary_key=True)
    name = db.Column(db.String(100))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60520"/>
            <a:ext cx="10881360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REST API / Microservice use case</a:t>
            </a:r>
          </a:p>
          <a:p>
            <a:pPr>
              <a:defRPr sz="1600"/>
            </a:pPr>
            <a:r>
              <a:t>A production microservice can use PostgreSQL, MySQL or another supported relational database.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17. CRUD with a Database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Definition</a:t>
            </a:r>
          </a:p>
          <a:p>
            <a:pPr>
              <a:defRPr sz="1600"/>
            </a:pPr>
            <a:r>
              <a:t>Database CRUD connects REST endpoints to persistent data instead of a temporary Python list.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Syntax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31720"/>
            <a:ext cx="5212080" cy="1417320"/>
          </a:xfrm>
          <a:prstGeom prst="roundRect">
            <a:avLst/>
          </a:prstGeom>
          <a:solidFill>
            <a:srgbClr val="F5F7FA"/>
          </a:solidFill>
          <a:ln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2441448"/>
            <a:ext cx="4882896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latin typeface="Consolas"/>
              </a:rPr>
              <a:t>record = Product.query.get(id)
record.name = data['name']
db.session.commit()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20116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Example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331720"/>
            <a:ext cx="5349240" cy="2606040"/>
          </a:xfrm>
          <a:prstGeom prst="roundRect">
            <a:avLst/>
          </a:prstGeom>
          <a:solidFill>
            <a:srgbClr val="F5F7FA"/>
          </a:solidFill>
          <a:ln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91072" y="2441448"/>
            <a:ext cx="5020055" cy="23865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Consolas"/>
              </a:rPr>
              <a:t>@app.get('/products/&lt;int:id&gt;')
def get_product(id):
    p = db.session.get(Product, id)
    if not p:
        return jsonify({'error':'Not found'}), 404
    return jsonify({'id':p.id,'name':p.name})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60520"/>
            <a:ext cx="10881360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REST API / Microservice use case</a:t>
            </a:r>
          </a:p>
          <a:p>
            <a:pPr>
              <a:defRPr sz="1600"/>
            </a:pPr>
            <a:r>
              <a:t>The API layer handles HTTP; the database layer handles persistence.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18. Flask Blueprints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Definition</a:t>
            </a:r>
          </a:p>
          <a:p>
            <a:pPr>
              <a:defRPr sz="1600"/>
            </a:pPr>
            <a:r>
              <a:t>A Blueprint organizes related routes into a reusable module and keeps a growing application maintainable.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Syntax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31720"/>
            <a:ext cx="5212080" cy="1417320"/>
          </a:xfrm>
          <a:prstGeom prst="roundRect">
            <a:avLst/>
          </a:prstGeom>
          <a:solidFill>
            <a:srgbClr val="F5F7FA"/>
          </a:solidFill>
          <a:ln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2441448"/>
            <a:ext cx="4882896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latin typeface="Consolas"/>
              </a:rPr>
              <a:t>bp = Blueprint('products', __name__)
app.register_blueprint(bp, url_prefix='/api')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20116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Example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331720"/>
            <a:ext cx="5349240" cy="2606040"/>
          </a:xfrm>
          <a:prstGeom prst="roundRect">
            <a:avLst/>
          </a:prstGeom>
          <a:solidFill>
            <a:srgbClr val="F5F7FA"/>
          </a:solidFill>
          <a:ln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91072" y="2441448"/>
            <a:ext cx="5020055" cy="23865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Consolas"/>
              </a:rPr>
              <a:t>products.py
bp = Blueprint('products', __name__)
@bp.get('/products')
def get_products():
    return {'items': []}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60520"/>
            <a:ext cx="10881360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REST API / Microservice use case</a:t>
            </a:r>
          </a:p>
          <a:p>
            <a:pPr>
              <a:defRPr sz="1600"/>
            </a:pPr>
            <a:r>
              <a:t>Separate customer, order and product endpoints into modules before splitting them into independent microservices.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19. Flask Project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Definition</a:t>
            </a:r>
          </a:p>
          <a:p>
            <a:pPr>
              <a:defRPr sz="1600"/>
            </a:pPr>
            <a:r>
              <a:t>A clean structure separates configuration, routes, business logic and database code.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Syntax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31720"/>
            <a:ext cx="5212080" cy="1417320"/>
          </a:xfrm>
          <a:prstGeom prst="roundRect">
            <a:avLst/>
          </a:prstGeom>
          <a:solidFill>
            <a:srgbClr val="F5F7FA"/>
          </a:solidFill>
          <a:ln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2441448"/>
            <a:ext cx="4882896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latin typeface="Consolas"/>
              </a:rPr>
              <a:t>app/
  __init__.py
  routes/
  services/
  models/
config.py
run.py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20116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Example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331720"/>
            <a:ext cx="5349240" cy="2606040"/>
          </a:xfrm>
          <a:prstGeom prst="roundRect">
            <a:avLst/>
          </a:prstGeom>
          <a:solidFill>
            <a:srgbClr val="F5F7FA"/>
          </a:solidFill>
          <a:ln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91072" y="2441448"/>
            <a:ext cx="5020055" cy="23865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Consolas"/>
              </a:rPr>
              <a:t>app/
  __init__.py
  routes/
    product_routes.py
  services/
    product_service.py
  models/
    product.py
config.py
run.py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60520"/>
            <a:ext cx="10881360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REST API / Microservice use case</a:t>
            </a:r>
          </a:p>
          <a:p>
            <a:pPr>
              <a:defRPr sz="1600"/>
            </a:pPr>
            <a:r>
              <a:t>This structure makes it easier to test and later extract a service into its own microservice.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20. What Is a Microservice?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Definition: A microservice is a small, independently deployable service focused on a business capability.</a:t>
            </a:r>
          </a:p>
          <a:p>
            <a:pPr>
              <a:spcAft>
                <a:spcPts val="800"/>
              </a:spcAft>
              <a:defRPr sz="2000"/>
            </a:pPr>
            <a:r>
              <a:t>Example capabilities: Customer Service, Order Service, Payment Service, Notification Service.</a:t>
            </a:r>
          </a:p>
          <a:p>
            <a:pPr>
              <a:spcAft>
                <a:spcPts val="800"/>
              </a:spcAft>
              <a:defRPr sz="2000"/>
            </a:pPr>
            <a:r>
              <a:t>Each service normally owns its API and business logic.</a:t>
            </a:r>
          </a:p>
          <a:p>
            <a:pPr>
              <a:spcAft>
                <a:spcPts val="800"/>
              </a:spcAft>
              <a:defRPr sz="2000"/>
            </a:pPr>
            <a:r>
              <a:t>Services communicate using HTTP/REST APIs or messaging systems.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3840480"/>
            <a:ext cx="1083564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0392" y="3950208"/>
            <a:ext cx="10506456" cy="1609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latin typeface="Consolas"/>
              </a:rPr>
              <a:t>Client
  |
  +--&gt; Customer Service :5001
  |
  +--&gt; Order Service    :5002
  |
  +--&gt; Payment Service  :5003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21. Flask Microservice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Customer Service owns customer information.</a:t>
            </a:r>
          </a:p>
          <a:p>
            <a:pPr>
              <a:spcAft>
                <a:spcPts val="800"/>
              </a:spcAft>
              <a:defRPr sz="1800"/>
            </a:pPr>
            <a:r>
              <a:t>It exposes REST endpoints.</a:t>
            </a:r>
          </a:p>
          <a:p>
            <a:pPr>
              <a:spcAft>
                <a:spcPts val="800"/>
              </a:spcAft>
              <a:defRPr sz="1800"/>
            </a:pPr>
            <a:r>
              <a:t>Another service does not directly access its database; it calls the Customer API.</a:t>
            </a:r>
          </a:p>
          <a:p>
            <a:pPr>
              <a:spcAft>
                <a:spcPts val="800"/>
              </a:spcAft>
              <a:defRPr sz="1800"/>
            </a:pPr>
            <a:r>
              <a:t>Run this service independently on port 5001.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743200"/>
            <a:ext cx="10835640" cy="3291840"/>
          </a:xfrm>
          <a:prstGeom prst="roundRect">
            <a:avLst/>
          </a:prstGeom>
          <a:solidFill>
            <a:srgbClr val="F5F7FA"/>
          </a:solidFill>
          <a:ln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0392" y="2852928"/>
            <a:ext cx="10506456" cy="30723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latin typeface="Consolas"/>
              </a:rPr>
              <a:t>from flask import Flask, jsonify
app = Flask(__name__)
@app.get('/customers/&lt;int:id&gt;')
def get_customer(id):
    return jsonify({
        'id': id,
        'name': 'ABC Pvt Ltd'
    })
if __name__ == '__main__':
    app.run(port=5001, debug=True)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22. Service-to-Service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Definition</a:t>
            </a:r>
          </a:p>
          <a:p>
            <a:pPr>
              <a:defRPr sz="1600"/>
            </a:pPr>
            <a:r>
              <a:t>One Flask service can call another service through HTTP.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Syntax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31720"/>
            <a:ext cx="5212080" cy="1417320"/>
          </a:xfrm>
          <a:prstGeom prst="roundRect">
            <a:avLst/>
          </a:prstGeom>
          <a:solidFill>
            <a:srgbClr val="F5F7FA"/>
          </a:solidFill>
          <a:ln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2441448"/>
            <a:ext cx="4882896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latin typeface="Consolas"/>
              </a:rPr>
              <a:t>requests.get('http://service:5001/customers/10')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20116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Example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331720"/>
            <a:ext cx="5349240" cy="2606040"/>
          </a:xfrm>
          <a:prstGeom prst="roundRect">
            <a:avLst/>
          </a:prstGeom>
          <a:solidFill>
            <a:srgbClr val="F5F7FA"/>
          </a:solidFill>
          <a:ln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91072" y="2441448"/>
            <a:ext cx="5020055" cy="23865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Consolas"/>
              </a:rPr>
              <a:t>import requests
@app.get('/orders/&lt;int:id&gt;')
def order(id):
    r = requests.get(
        'http://127.0.0.1:5001/customers/10'
    )
    customer = r.json()
    return {'order_id': id, 'customer': customer}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60520"/>
            <a:ext cx="10881360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REST API / Microservice use case</a:t>
            </a:r>
          </a:p>
          <a:p>
            <a:pPr>
              <a:defRPr sz="1600"/>
            </a:pPr>
            <a:r>
              <a:t>Order Service can call Customer Service to obtain customer information instead of querying the customer database directly.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23. Configuration and Environment Variables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Definition</a:t>
            </a:r>
          </a:p>
          <a:p>
            <a:pPr>
              <a:defRPr sz="1600"/>
            </a:pPr>
            <a:r>
              <a:t>Environment variables keep environment-specific settings such as ports, database URLs and secrets outside source code.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Syntax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31720"/>
            <a:ext cx="5212080" cy="1417320"/>
          </a:xfrm>
          <a:prstGeom prst="roundRect">
            <a:avLst/>
          </a:prstGeom>
          <a:solidFill>
            <a:srgbClr val="F5F7FA"/>
          </a:solidFill>
          <a:ln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2441448"/>
            <a:ext cx="4882896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latin typeface="Consolas"/>
              </a:rPr>
              <a:t>os.getenv('DATABASE_URL')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20116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Example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331720"/>
            <a:ext cx="5349240" cy="2606040"/>
          </a:xfrm>
          <a:prstGeom prst="roundRect">
            <a:avLst/>
          </a:prstGeom>
          <a:solidFill>
            <a:srgbClr val="F5F7FA"/>
          </a:solidFill>
          <a:ln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91072" y="2441448"/>
            <a:ext cx="5020055" cy="23865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Consolas"/>
              </a:rPr>
              <a:t>import os
DATABASE_URL = os.getenv(
    'DATABASE_URL',
    'sqlite:///app.db'
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60520"/>
            <a:ext cx="10881360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REST API / Microservice use case</a:t>
            </a:r>
          </a:p>
          <a:p>
            <a:pPr>
              <a:defRPr sz="1600"/>
            </a:pPr>
            <a:r>
              <a:t>Development, testing and production can use different database connections without changing Python code.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24. JWT Authentication —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Definition</a:t>
            </a:r>
          </a:p>
          <a:p>
            <a:pPr>
              <a:defRPr sz="1600"/>
            </a:pPr>
            <a:r>
              <a:t>JWT (JSON Web Token) is commonly used to represent authenticated user identity between a client and an API.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Syntax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31720"/>
            <a:ext cx="5212080" cy="1417320"/>
          </a:xfrm>
          <a:prstGeom prst="roundRect">
            <a:avLst/>
          </a:prstGeom>
          <a:solidFill>
            <a:srgbClr val="F5F7FA"/>
          </a:solidFill>
          <a:ln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2441448"/>
            <a:ext cx="4882896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latin typeface="Consolas"/>
              </a:rPr>
              <a:t>Authorization: Bearer &lt;token&gt;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20116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Example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331720"/>
            <a:ext cx="5349240" cy="2606040"/>
          </a:xfrm>
          <a:prstGeom prst="roundRect">
            <a:avLst/>
          </a:prstGeom>
          <a:solidFill>
            <a:srgbClr val="F5F7FA"/>
          </a:solidFill>
          <a:ln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91072" y="2441448"/>
            <a:ext cx="5020055" cy="23865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Consolas"/>
              </a:rPr>
              <a:t>POST /login
→ token
GET /profile
Authorization: Bearer eyJ...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60520"/>
            <a:ext cx="10881360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REST API / Microservice use case</a:t>
            </a:r>
          </a:p>
          <a:p>
            <a:pPr>
              <a:defRPr sz="1600"/>
            </a:pPr>
            <a:r>
              <a:t>A microservice can validate a token before allowing access to protected endpoints. Never hard-code secret keys.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25. Logging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Definition</a:t>
            </a:r>
          </a:p>
          <a:p>
            <a:pPr>
              <a:defRPr sz="1600"/>
            </a:pPr>
            <a:r>
              <a:t>Logging records useful runtime information such as requests, failures and business events.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Syntax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31720"/>
            <a:ext cx="5212080" cy="1417320"/>
          </a:xfrm>
          <a:prstGeom prst="roundRect">
            <a:avLst/>
          </a:prstGeom>
          <a:solidFill>
            <a:srgbClr val="F5F7FA"/>
          </a:solidFill>
          <a:ln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2441448"/>
            <a:ext cx="4882896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latin typeface="Consolas"/>
              </a:rPr>
              <a:t>app.logger.info('message')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20116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Example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331720"/>
            <a:ext cx="5349240" cy="2606040"/>
          </a:xfrm>
          <a:prstGeom prst="roundRect">
            <a:avLst/>
          </a:prstGeom>
          <a:solidFill>
            <a:srgbClr val="F5F7FA"/>
          </a:solidFill>
          <a:ln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91072" y="2441448"/>
            <a:ext cx="5020055" cy="23865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Consolas"/>
              </a:rPr>
              <a:t>@app.get('/health')
def health():
    app.logger.info('Health check called')
    return {'status': 'UP'}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60520"/>
            <a:ext cx="10881360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REST API / Microservice use case</a:t>
            </a:r>
          </a:p>
          <a:p>
            <a:pPr>
              <a:defRPr sz="1600"/>
            </a:pPr>
            <a:r>
              <a:t>Centralized logs help diagnose problems when many microservices run on different machines or containers.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26. Health Check Endpoint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Definition</a:t>
            </a:r>
          </a:p>
          <a:p>
            <a:pPr>
              <a:defRPr sz="1600"/>
            </a:pPr>
            <a:r>
              <a:t>A health endpoint provides a simple way to determine whether a service is running.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Syntax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31720"/>
            <a:ext cx="5212080" cy="1417320"/>
          </a:xfrm>
          <a:prstGeom prst="roundRect">
            <a:avLst/>
          </a:prstGeom>
          <a:solidFill>
            <a:srgbClr val="F5F7FA"/>
          </a:solidFill>
          <a:ln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2441448"/>
            <a:ext cx="4882896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latin typeface="Consolas"/>
              </a:rPr>
              <a:t>@app.get('/health')
def health():
    return {'status':'UP'}, 200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20116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Example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331720"/>
            <a:ext cx="5349240" cy="2606040"/>
          </a:xfrm>
          <a:prstGeom prst="roundRect">
            <a:avLst/>
          </a:prstGeom>
          <a:solidFill>
            <a:srgbClr val="F5F7FA"/>
          </a:solidFill>
          <a:ln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91072" y="2441448"/>
            <a:ext cx="5020055" cy="23865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Consolas"/>
              </a:rPr>
              <a:t>@app.get('/health')
def health():
    return {
        'service': 'order-service',
        'status': 'UP'
    }, 200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60520"/>
            <a:ext cx="10881360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REST API / Microservice use case</a:t>
            </a:r>
          </a:p>
          <a:p>
            <a:pPr>
              <a:defRPr sz="1600"/>
            </a:pPr>
            <a:r>
              <a:t>Load balancers and monitoring systems can periodically call /health.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27. Beginner Mini Project — Order Microservice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Build an Order Service using Flask.</a:t>
            </a:r>
          </a:p>
          <a:p>
            <a:pPr>
              <a:spcAft>
                <a:spcPts val="800"/>
              </a:spcAft>
              <a:defRPr sz="1700"/>
            </a:pPr>
            <a:r>
              <a:t>POST /orders → create an order</a:t>
            </a:r>
          </a:p>
          <a:p>
            <a:pPr>
              <a:spcAft>
                <a:spcPts val="800"/>
              </a:spcAft>
              <a:defRPr sz="1700"/>
            </a:pPr>
            <a:r>
              <a:t>GET /orders → list orders</a:t>
            </a:r>
          </a:p>
          <a:p>
            <a:pPr>
              <a:spcAft>
                <a:spcPts val="800"/>
              </a:spcAft>
              <a:defRPr sz="1700"/>
            </a:pPr>
            <a:r>
              <a:t>GET /orders/&lt;id&gt; → retrieve one order</a:t>
            </a:r>
          </a:p>
          <a:p>
            <a:pPr>
              <a:spcAft>
                <a:spcPts val="800"/>
              </a:spcAft>
              <a:defRPr sz="1700"/>
            </a:pPr>
            <a:r>
              <a:t>PUT /orders/&lt;id&gt; → update an order</a:t>
            </a:r>
          </a:p>
          <a:p>
            <a:pPr>
              <a:spcAft>
                <a:spcPts val="800"/>
              </a:spcAft>
              <a:defRPr sz="1700"/>
            </a:pPr>
            <a:r>
              <a:t>DELETE /orders/&lt;id&gt; → delete an order</a:t>
            </a:r>
          </a:p>
          <a:p>
            <a:pPr>
              <a:spcAft>
                <a:spcPts val="800"/>
              </a:spcAft>
              <a:defRPr sz="1700"/>
            </a:pPr>
            <a:r>
              <a:t>GET /health → service health</a:t>
            </a:r>
          </a:p>
          <a:p>
            <a:pPr>
              <a:spcAft>
                <a:spcPts val="800"/>
              </a:spcAft>
              <a:defRPr sz="1700"/>
            </a:pPr>
            <a:r>
              <a:t>Store data in SQLite first; later replace it with MySQL/PostgreSQL.</a:t>
            </a:r>
          </a:p>
          <a:p>
            <a:pPr>
              <a:spcAft>
                <a:spcPts val="800"/>
              </a:spcAft>
              <a:defRPr sz="1700"/>
            </a:pPr>
            <a:r>
              <a:t>Optional: call Customer Service to validate customer_id.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28. End-to-End REST Microservice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241280" cy="4663440"/>
          </a:xfrm>
          <a:prstGeom prst="roundRect">
            <a:avLst/>
          </a:prstGeom>
          <a:solidFill>
            <a:srgbClr val="F5F7FA"/>
          </a:solidFill>
          <a:ln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78992" y="1481328"/>
            <a:ext cx="9912096" cy="44439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latin typeface="Consolas"/>
              </a:rPr>
              <a:t>Postman / Frontend
        |
        | HTTP Request
        v
+----------------------+
| Flask Order Service  |
| Routes / Validation  |
| Business Logic       |
+----------+-----------+
           |
           +----&gt; Database
           |
           +----&gt; Customer Service
           |
        JSON Response
           |
           v
       Client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29. Flask REST API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Use nouns for resource URLs: /customers, /orders, /products.</a:t>
            </a:r>
          </a:p>
          <a:p>
            <a:pPr>
              <a:spcAft>
                <a:spcPts val="800"/>
              </a:spcAft>
              <a:defRPr sz="1800"/>
            </a:pPr>
            <a:r>
              <a:t>Use HTTP methods consistently: GET, POST, PUT/PATCH, DELETE.</a:t>
            </a:r>
          </a:p>
          <a:p>
            <a:pPr>
              <a:spcAft>
                <a:spcPts val="800"/>
              </a:spcAft>
              <a:defRPr sz="1800"/>
            </a:pPr>
            <a:r>
              <a:t>Return meaningful HTTP status codes.</a:t>
            </a:r>
          </a:p>
          <a:p>
            <a:pPr>
              <a:spcAft>
                <a:spcPts val="800"/>
              </a:spcAft>
              <a:defRPr sz="1800"/>
            </a:pPr>
            <a:r>
              <a:t>Validate input before processing it.</a:t>
            </a:r>
          </a:p>
          <a:p>
            <a:pPr>
              <a:spcAft>
                <a:spcPts val="800"/>
              </a:spcAft>
              <a:defRPr sz="1800"/>
            </a:pPr>
            <a:r>
              <a:t>Do not expose passwords, API keys or database credentials in source code.</a:t>
            </a:r>
          </a:p>
          <a:p>
            <a:pPr>
              <a:spcAft>
                <a:spcPts val="800"/>
              </a:spcAft>
              <a:defRPr sz="1800"/>
            </a:pPr>
            <a:r>
              <a:t>Separate routes, business logic and database code.</a:t>
            </a:r>
          </a:p>
          <a:p>
            <a:pPr>
              <a:spcAft>
                <a:spcPts val="800"/>
              </a:spcAft>
              <a:defRPr sz="1800"/>
            </a:pPr>
            <a:r>
              <a:t>Add logging, health checks and automated tests.</a:t>
            </a:r>
          </a:p>
          <a:p>
            <a:pPr>
              <a:spcAft>
                <a:spcPts val="800"/>
              </a:spcAft>
              <a:defRPr sz="1800"/>
            </a:pPr>
            <a:r>
              <a:t>Document APIs with OpenAPI/Swagger when the project grows.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30. Course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/>
            </a:pPr>
            <a:r>
              <a:t>Flask application → routes → HTTP methods → JSON</a:t>
            </a:r>
          </a:p>
          <a:p>
            <a:pPr>
              <a:spcAft>
                <a:spcPts val="800"/>
              </a:spcAft>
              <a:defRPr sz="2100"/>
            </a:pPr>
            <a:r>
              <a:t>REST API → CRUD → validation → error handling</a:t>
            </a:r>
          </a:p>
          <a:p>
            <a:pPr>
              <a:spcAft>
                <a:spcPts val="800"/>
              </a:spcAft>
              <a:defRPr sz="2100"/>
            </a:pPr>
            <a:r>
              <a:t>Database → SQLAlchemy → persistent data</a:t>
            </a:r>
          </a:p>
          <a:p>
            <a:pPr>
              <a:spcAft>
                <a:spcPts val="800"/>
              </a:spcAft>
              <a:defRPr sz="2100"/>
            </a:pPr>
            <a:r>
              <a:t>Blueprints → clean application structure</a:t>
            </a:r>
          </a:p>
          <a:p>
            <a:pPr>
              <a:spcAft>
                <a:spcPts val="800"/>
              </a:spcAft>
              <a:defRPr sz="2100"/>
            </a:pPr>
            <a:r>
              <a:t>Microservices → independent services communicating through APIs</a:t>
            </a:r>
          </a:p>
          <a:p>
            <a:pPr>
              <a:spcAft>
                <a:spcPts val="800"/>
              </a:spcAft>
              <a:defRPr sz="2100"/>
            </a:pPr>
            <a:r>
              <a:t>Next steps: pytest, OpenAPI/Swagger, Docker, JWT, PostgreSQL/MySQL, API gateway,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Suggested Hands-On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Lab 1: Hello Flask application</a:t>
            </a:r>
          </a:p>
          <a:p>
            <a:pPr>
              <a:spcAft>
                <a:spcPts val="800"/>
              </a:spcAft>
              <a:defRPr sz="1800"/>
            </a:pPr>
            <a:r>
              <a:t>Lab 2: Build GET and POST endpoints</a:t>
            </a:r>
          </a:p>
          <a:p>
            <a:pPr>
              <a:spcAft>
                <a:spcPts val="800"/>
              </a:spcAft>
              <a:defRPr sz="1800"/>
            </a:pPr>
            <a:r>
              <a:t>Lab 3: Build complete in-memory CRUD API</a:t>
            </a:r>
          </a:p>
          <a:p>
            <a:pPr>
              <a:spcAft>
                <a:spcPts val="800"/>
              </a:spcAft>
              <a:defRPr sz="1800"/>
            </a:pPr>
            <a:r>
              <a:t>Lab 4: Test APIs using Postman</a:t>
            </a:r>
          </a:p>
          <a:p>
            <a:pPr>
              <a:spcAft>
                <a:spcPts val="800"/>
              </a:spcAft>
              <a:defRPr sz="1800"/>
            </a:pPr>
            <a:r>
              <a:t>Lab 5: Add SQLite + SQLAlchemy</a:t>
            </a:r>
          </a:p>
          <a:p>
            <a:pPr>
              <a:spcAft>
                <a:spcPts val="800"/>
              </a:spcAft>
              <a:defRPr sz="1800"/>
            </a:pPr>
            <a:r>
              <a:t>Lab 6: Split routes using Blueprints</a:t>
            </a:r>
          </a:p>
          <a:p>
            <a:pPr>
              <a:spcAft>
                <a:spcPts val="800"/>
              </a:spcAft>
              <a:defRPr sz="1800"/>
            </a:pPr>
            <a:r>
              <a:t>Lab 7: Build Customer Service and Order Service</a:t>
            </a:r>
          </a:p>
          <a:p>
            <a:pPr>
              <a:spcAft>
                <a:spcPts val="800"/>
              </a:spcAft>
              <a:defRPr sz="1800"/>
            </a:pPr>
            <a:r>
              <a:t>Lab 8: Implement service-to-service REST call</a:t>
            </a:r>
          </a:p>
          <a:p>
            <a:pPr>
              <a:spcAft>
                <a:spcPts val="800"/>
              </a:spcAft>
              <a:defRPr sz="1800"/>
            </a:pPr>
            <a:r>
              <a:t>Lab 9: Add validation, error handling and health check</a:t>
            </a:r>
          </a:p>
          <a:p>
            <a:pPr>
              <a:spcAft>
                <a:spcPts val="800"/>
              </a:spcAft>
              <a:defRPr sz="1800"/>
            </a:pPr>
            <a:r>
              <a:t>Lab 10: Final Order Microservice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3065</Words>
  <Application>Microsoft Office PowerPoint</Application>
  <PresentationFormat>Widescreen</PresentationFormat>
  <Paragraphs>313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Palani Karthikeyan</cp:lastModifiedBy>
  <cp:revision>2</cp:revision>
  <dcterms:created xsi:type="dcterms:W3CDTF">2013-01-27T09:14:16Z</dcterms:created>
  <dcterms:modified xsi:type="dcterms:W3CDTF">2026-09-28T03:51:30Z</dcterms:modified>
  <cp:category/>
</cp:coreProperties>
</file>